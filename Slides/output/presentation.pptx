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4"/>
  </p:sldMasterIdLst>
  <p:notesMasterIdLst>
    <p:notesMasterId r:id="rId9"/>
  </p:notesMasterIdLst>
  <p:sldIdLst>
    <p:sldId id="256" r:id="rId7"/>
    <p:sldId id="257" r:id="rId8"/>
    <p:sldId id="258" r:id="rId6"/>
    <p:sldId id="259" r:id="rId5"/>
    <p:sldId id="260" r:id="rId3"/>
    <p:sldId id="261" r:id="rId2"/>
    <p:sldId id="262" r:id="rId1"/>
    <p:sldId id="263" r:id="rId14"/>
    <p:sldId id="264" r:id="rId15"/>
    <p:sldId id="265" r:id="rId16"/>
    <p:sldId id="26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521415D9-36F7-43E2-AB2F-B90AF26B5E84}">
      <p14:sectionLst xmlns:p14="http://schemas.microsoft.com/office/powerpoint/2010/main">
        <p14:section name="Intro" id="{C79E557B-D179-4A60-98E1-C4769250F6CA}">
          <p14:sldIdLst>
            <p14:sldId id="256"/>
            <p14:sldId id="257"/>
            <p14:sldId id="258"/>
            <p14:sldId id="259"/>
            <p14:sldId id="260"/>
          </p14:sldIdLst>
        </p14:section>
        <p14:section name="Module 1 - AIASD" id="{92E5DB41-D562-4C82-ACB3-3AA77C67A142}">
          <p14:sldIdLst>
            <p14:sldId id="261"/>
            <p14:sldId id="262"/>
          </p14:sldIdLst>
        </p14:section>
        <p14:section name="Module 2 - Copilot for Teams" id="{7635043C-6AAD-40B3-820A-912094F28E4A}">
          <p14:sldIdLst>
            <p14:sldId id="263"/>
          </p14:sldIdLst>
        </p14:section>
        <p14:section name="Module 3 - Intro to Copilot" id="{240557CE-F5EA-4EB2-8561-EDDE860F604A}">
          <p14:sldIdLst>
            <p14:sldId id="264"/>
          </p14:sldIdLst>
        </p14:section>
        <p14:section name="Module 4 - Mobbing" id="{7710D279-CAFE-48C0-B920-14CF61DBA496}">
          <p14:sldIdLst>
            <p14:sldId id="265"/>
          </p14:sldIdLst>
        </p14:section>
        <p14:section name="Module 5 - Vibbing" id="{E133648A-42FE-459F-881B-DDF385CE9BDD}">
          <p14:sldIdLst>
            <p14:sldId id="26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7" autoAdjust="0"/>
    <p:restoredTop sz="63597" autoAdjust="0"/>
  </p:normalViewPr>
  <p:slideViewPr>
    <p:cSldViewPr snapToGrid="0" showGuides="1">
      <p:cViewPr varScale="1">
        <p:scale>
          <a:sx n="47" d="100"/>
          <a:sy n="47" d="100"/>
        </p:scale>
        <p:origin x="444" y="24"/>
      </p:cViewPr>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slide" Target="slides/slide6.xml"/><Relationship Id="rId3" Type="http://schemas.openxmlformats.org/officeDocument/2006/relationships/slide" Target="slides/slide5.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3089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3">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4"/>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a:t>
            </a:r>
          </a:p>
        </p:txBody>
      </p:sp>
      <p:sp>
        <p:nvSpPr>
          <p:cNvPr id="3" name="Content Placeholder 2"/>
          <p:cNvSpPr>
            <a:spLocks noGrp="1"/>
          </p:cNvSpPr>
          <p:nvPr>
            <p:ph idx="1"/>
          </p:nvPr>
        </p:nvSpPr>
        <p:spPr/>
        <p:txBody>
          <a:bodyPr/>
          <a:lstStyle/>
          <a:p>
            <a:r>
              <a:t>welcome-to-aiasd</a:t>
            </a:r>
          </a:p>
          <a:p>
            <a:r>
              <a:t>John Michael Miller</a:t>
            </a:r>
          </a:p>
          <a:p>
            <a:r>
              <a:t>Introductions</a:t>
            </a:r>
          </a:p>
          <a:p>
            <a:r>
              <a:t>About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welcome-to-aiasd</a:t>
            </a:r>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John Michael Miller</a:t>
            </a:r>
          </a:p>
        </p:txBody>
      </p:sp>
      <p:sp>
        <p:nvSpPr>
          <p:cNvPr id="3" name="Content Placeholder 2"/>
          <p:cNvSpPr>
            <a:spLocks noGrp="1"/>
          </p:cNvSpPr>
          <p:nvPr>
            <p:ph idx="1"/>
          </p:nvPr>
        </p:nvSpPr>
        <p:spPr/>
        <p:txBody>
          <a:bodyPr/>
          <a:lstStyle/>
          <a:p>
            <a:r>
              <a:t>## John Michael Miller</a:t>
            </a:r>
          </a:p>
          <a:p/>
          <a:p>
            <a:r>
              <a:t>👤 **Principal Software Engineer at CODE**</a:t>
            </a:r>
          </a:p>
          <a:p/>
          <a:p>
            <a:r>
              <a:t>🏢 Played roles of developer, architect, devops engineer, platform engineer, test architect, release manager</a:t>
            </a:r>
          </a:p>
          <a:p/>
          <a:p>
            <a:r>
              <a:t>🤖 AI/ML Enthusiast and advocate for effectively using AI to write code</a:t>
            </a:r>
          </a:p>
          <a:p/>
          <a:p>
            <a:pPr/>
            <a:r>
              <a:t>LinkedIn: [www.linkedin.com/in/johnmichaelmiller](https://www.linkedin.com/in/johnmichaelmiller)</a:t>
            </a:r>
          </a:p>
          <a:p>
            <a:pPr/>
            <a:r>
              <a:t>Email: [john.miller@codemag.com](mailto:john.miller@codemag.com)</a:t>
            </a:r>
          </a:p>
          <a:p>
            <a:pPr/>
            <a:r>
              <a:t>Blog: [codemag.com/blog/AIPractitioner](https://codemag.com/blog/AIPractitioner)</a:t>
            </a:r>
          </a:p>
          <a:p>
            <a:pPr/>
            <a:r>
              <a:t>[AI Practitioner Resources](https://codemag.com/aipractitioner)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Introductions</a:t>
            </a:r>
          </a:p>
        </p:txBody>
      </p:sp>
      <p:sp>
        <p:nvSpPr>
          <p:cNvPr id="3" name="Content Placeholder 2"/>
          <p:cNvSpPr>
            <a:spLocks noGrp="1"/>
          </p:cNvSpPr>
          <p:nvPr>
            <p:ph idx="1"/>
          </p:nvPr>
        </p:nvSpPr>
        <p:spPr/>
        <p:txBody>
          <a:bodyPr/>
          <a:lstStyle/>
          <a:p>
            <a:r>
              <a:t>_Merged from: `_Welcome and Introductions.pptx`, `_Welcome-and-introductions.pptx`_</a:t>
            </a:r>
          </a:p>
          <a:p/>
          <a:p/>
          <a:p>
            <a:r>
              <a:t>## Introductions</a:t>
            </a:r>
          </a:p>
          <a:p/>
          <a:p>
            <a:pPr/>
            <a:r>
              <a:t>Who you are</a:t>
            </a:r>
          </a:p>
          <a:p>
            <a:pPr/>
            <a:r>
              <a:t>Who do you work for</a:t>
            </a:r>
          </a:p>
          <a:p>
            <a:pPr/>
            <a:r>
              <a:t>What you do</a:t>
            </a:r>
          </a:p>
          <a:p>
            <a:pPr/>
            <a:r>
              <a:t>What you’ve done with AI tools</a:t>
            </a:r>
          </a:p>
          <a:p>
            <a:pPr/>
            <a:r>
              <a:t>What you want to learn</a:t>
            </a:r>
          </a:p>
          <a:p/>
          <a:p>
            <a:r>
              <a:t>::: notes</a:t>
            </a:r>
          </a:p>
          <a:p>
            <a:r>
              <a:t>Day One: Outline the day’s goals and emphasize participation and hands-on exercises.</a:t>
            </a:r>
          </a:p>
          <a:p>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About CODE</a:t>
            </a:r>
          </a:p>
        </p:txBody>
      </p:sp>
      <p:sp>
        <p:nvSpPr>
          <p:cNvPr id="3" name="Content Placeholder 2"/>
          <p:cNvSpPr>
            <a:spLocks noGrp="1"/>
          </p:cNvSpPr>
          <p:nvPr>
            <p:ph idx="1"/>
          </p:nvPr>
        </p:nvSpPr>
        <p:spPr/>
        <p:txBody>
          <a:bodyPr/>
          <a:lstStyle/>
          <a:p>
            <a:r>
              <a:t>_Merged from: `_Welcome and Introductions.pptx`, `_Welcome-and-introductions.pptx`_</a:t>
            </a:r>
          </a:p>
          <a:p/>
          <a:p/>
          <a:p>
            <a:r>
              <a:t>## About CODE</a:t>
            </a:r>
          </a:p>
          <a:p/>
          <a:p>
            <a:r>
              <a:t>![bg contain](../images/CODE-Group.png)</a:t>
            </a:r>
          </a:p>
          <a:p/>
          <a:p>
            <a:r>
              <a:t>::: notes</a:t>
            </a:r>
          </a:p>
          <a:p>
            <a:r>
              <a:t>CODE is a custom software company, a staff augmentation company, CODE Magazine for software developers, and training like this webinar. We’ve been in business for 30 years and the magazine just hit its 25th anniversary. Visit the website at https://www.codemag.com/ for more details.</a:t>
            </a:r>
          </a:p>
          <a:p>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1 - AIASD</a:t>
            </a:r>
          </a:p>
        </p:txBody>
      </p:sp>
      <p:sp>
        <p:nvSpPr>
          <p:cNvPr id="3" name="Content Placeholder 2"/>
          <p:cNvSpPr>
            <a:spLocks noGrp="1"/>
          </p:cNvSpPr>
          <p:nvPr>
            <p:ph idx="1"/>
          </p:nvPr>
        </p:nvSpPr>
        <p:spPr/>
        <p:txBody>
          <a:bodyPr/>
          <a:lstStyle/>
          <a:p>
            <a:r>
              <a:t>WTBD - The Core 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WTBD - The Core Thesis</a:t>
            </a:r>
          </a:p>
        </p:txBody>
      </p:sp>
      <p:sp>
        <p:nvSpPr>
          <p:cNvPr id="3" name="Content Placeholder 2"/>
          <p:cNvSpPr>
            <a:spLocks noGrp="1"/>
          </p:cNvSpPr>
          <p:nvPr>
            <p:ph idx="1"/>
          </p:nvPr>
        </p:nvSpPr>
        <p:spPr/>
        <p:txBody>
          <a:bodyPr/>
          <a:lstStyle/>
          <a:p>
            <a:r>
              <a:t>&gt; "Programming hasn't changed, but how we go about it has changed, again."</a:t>
            </a:r>
          </a:p>
          <a:p/>
          <a:p>
            <a:pPr/>
            <a:r>
              <a:t>AI-assisted development is **evolutionary**, not revolutionary</a:t>
            </a:r>
          </a:p>
          <a:p>
            <a:pPr/>
            <a:r>
              <a:t>Programming has always been about **expressing human intent** to machines</a:t>
            </a:r>
          </a:p>
          <a:p>
            <a:pPr/>
            <a:r>
              <a:t>What changes is the **sophistication of our tools** for expressing intent</a:t>
            </a:r>
          </a:p>
          <a:p>
            <a:pPr/>
            <a:r>
              <a:t>The essence remains: bridging the gap between what we want and what machines can do</a:t>
            </a:r>
          </a:p>
          <a:p/>
          <a:p/>
          <a:p>
            <a:r>
              <a:t>## A Brief History: Machine Code &amp; Assembly (1940s)</a:t>
            </a:r>
          </a:p>
          <a:p/>
          <a:p>
            <a:pPr/>
            <a:r>
              <a:t>**Machine Code**: Raw binary language executed directly by hardware</a:t>
            </a:r>
          </a:p>
          <a:p>
            <a:pPr/>
            <a:r>
              <a:t>**Physical Programming**:</a:t>
            </a:r>
          </a:p>
          <a:p>
            <a:pPr lvl="1"/>
            <a:r>
              <a:t>Flipping panel switches</a:t>
            </a:r>
          </a:p>
          <a:p>
            <a:pPr lvl="1"/>
            <a:r>
              <a:t>Plugging cables</a:t>
            </a:r>
          </a:p>
          <a:p>
            <a:pPr lvl="1"/>
            <a:r>
              <a:t>Feeding punched cards into IBM readers</a:t>
            </a:r>
          </a:p>
          <a:p>
            <a:pPr lvl="1"/>
            <a:r>
              <a:t>Threading perforated paper tape</a:t>
            </a:r>
          </a:p>
          <a:p/>
          <a:p>
            <a:r>
              <a:t>**Assembly Language**: Introduced symbolic mnemonics (MOV, ADD, JMP)</a:t>
            </a:r>
          </a:p>
          <a:p/>
          <a:p>
            <a:pPr/>
            <a:r>
              <a:t>**Enabling Technology**: Assemblers that translated mnemonics into machine code</a:t>
            </a:r>
          </a:p>
          <a:p>
            <a:pPr/>
            <a:r>
              <a:t>Still mainstream today in embedded systems and OS kernels</a:t>
            </a:r>
          </a:p>
          <a:p/>
          <a:p/>
          <a:p>
            <a:r>
              <a:t>## High-Level Languages (1950s-1970s)</a:t>
            </a:r>
          </a:p>
          <a:p/>
          <a:p>
            <a:r>
              <a:t>**The Abstraction Revolution**:</a:t>
            </a:r>
          </a:p>
          <a:p/>
          <a:p>
            <a:pPr/>
            <a:r>
              <a:t>Math-like and business-oriented syntax</a:t>
            </a:r>
          </a:p>
          <a:p>
            <a:pPr/>
            <a:r>
              <a:t>**Enabling Technologies**: Compilers and interpreters</a:t>
            </a:r>
          </a:p>
          <a:p/>
          <a:p>
            <a:r>
              <a:t>**Key Languages**:</a:t>
            </a:r>
          </a:p>
          <a:p/>
          <a:p>
            <a:pPr/>
            <a:r>
              <a:t>**FORTRAN (1957)**: Pioneered scientific programming</a:t>
            </a:r>
          </a:p>
          <a:p>
            <a:pPr/>
            <a:r>
              <a:t>**COBOL (1959)**: Mainstream in business and government</a:t>
            </a:r>
          </a:p>
          <a:p>
            <a:pPr/>
            <a:r>
              <a:t>**C (1972)**: Spread with UNIX thanks to portable compilers</a:t>
            </a:r>
          </a:p>
          <a:p/>
          <a:p>
            <a:r>
              <a:t>**Sensory Shift**: From mechanical card punches to typewriter-style terminals</a:t>
            </a:r>
          </a:p>
          <a:p/>
          <a:p/>
          <a:p>
            <a:r>
              <a:t>## Structured &amp; Object-Oriented Programming (1970s-1980s)</a:t>
            </a:r>
          </a:p>
          <a:p/>
          <a:p>
            <a:r>
              <a:t>**Focus**: Modularity, reuse, and abstraction</a:t>
            </a:r>
          </a:p>
          <a:p/>
          <a:p>
            <a:r>
              <a:t>**Key Developments**:</a:t>
            </a:r>
          </a:p>
          <a:p/>
          <a:p>
            <a:pPr/>
            <a:r>
              <a:t>**Pascal (1970)**: Structured paradigms with compiler innovations</a:t>
            </a:r>
          </a:p>
          <a:p>
            <a:pPr/>
            <a:r>
              <a:t>**C++ (1985)**: Object-oriented compilers supporting inheritance and polymorphism</a:t>
            </a:r>
          </a:p>
          <a:p/>
          <a:p>
            <a:r>
              <a:t>**Enabling Technologies**:</a:t>
            </a:r>
          </a:p>
          <a:p/>
          <a:p>
            <a:pPr/>
            <a:r>
              <a:t>Advanced compiler innovations</a:t>
            </a:r>
          </a:p>
          <a:p>
            <a:pPr/>
            <a:r>
              <a:t>Support for inheritance and polymorphism</a:t>
            </a:r>
          </a:p>
          <a:p/>
          <a:p>
            <a:r>
              <a:t>**Era Experience**: CRT monitors with green text, floppy disks</a:t>
            </a:r>
          </a:p>
          <a:p/>
          <a:p/>
          <a:p>
            <a:r>
              <a:t>## IDEs &amp; Libraries (1990s)</a:t>
            </a:r>
          </a:p>
          <a:p/>
          <a:p>
            <a:r>
              <a:t>**The Integration Era**:</a:t>
            </a:r>
          </a:p>
          <a:p/>
          <a:p>
            <a:pPr/>
            <a:r>
              <a:t>**IDEs**: Combined compilers, debuggers, and editors in graphical interfaces</a:t>
            </a:r>
          </a:p>
          <a:p>
            <a:pPr/>
            <a:r>
              <a:t>**Visual Studio**: Enabled by faster processors and GUI toolkits</a:t>
            </a:r>
          </a:p>
          <a:p>
            <a:pPr/>
            <a:r>
              <a:t>**Java &amp; JVM (1995)**: "Write once, run anywhere"</a:t>
            </a:r>
          </a:p>
          <a:p>
            <a:pPr/>
            <a:r>
              <a:t>**Reusable Libraries**: Abstracted common functionality</a:t>
            </a:r>
          </a:p>
          <a:p/>
          <a:p>
            <a:r>
              <a:t>**Enabling Technologies**:</a:t>
            </a:r>
          </a:p>
          <a:p/>
          <a:p>
            <a:pPr/>
            <a:r>
              <a:t>Faster processors, GUI toolkits, extensible plug-in architectures</a:t>
            </a:r>
          </a:p>
          <a:p>
            <a:pPr/>
            <a:r>
              <a:t>Virtual machines</a:t>
            </a:r>
          </a:p>
          <a:p/>
          <a:p>
            <a:r>
              <a:t>**Experience**: Mouse clicks, drag-and-drop, desktop computing</a:t>
            </a:r>
          </a:p>
          <a:p/>
          <a:p/>
          <a:p>
            <a:r>
              <a:t>## Web &amp; Scripting Languages (Late 1990s-2000s)</a:t>
            </a:r>
          </a:p>
          <a:p/>
          <a:p>
            <a:r>
              <a:t>**The Dynamic Web Era**:</a:t>
            </a:r>
          </a:p>
          <a:p/>
          <a:p>
            <a:pPr/>
            <a:r>
              <a:t>**JavaScript (1995)**: Powered by Netscape, later V8 engine (2008)</a:t>
            </a:r>
          </a:p>
          <a:p>
            <a:pPr/>
            <a:r>
              <a:t>**Python**: Web development in 2000s, data science dominance</a:t>
            </a:r>
          </a:p>
          <a:p>
            <a:pPr/>
            <a:r>
              <a:t>**Ruby on Rails (2004)**: Abstracted web complexity</a:t>
            </a:r>
          </a:p>
          <a:p/>
          <a:p>
            <a:r>
              <a:t>**Enabling Technologies**:</a:t>
            </a:r>
          </a:p>
          <a:p/>
          <a:p>
            <a:pPr/>
            <a:r>
              <a:t>Browser engines, dynamic interpreters, frameworks</a:t>
            </a:r>
          </a:p>
          <a:p>
            <a:pPr/>
            <a:r>
              <a:t>Eclipse IDE (2001)</a:t>
            </a:r>
          </a:p>
          <a:p/>
          <a:p>
            <a:r>
              <a:t>**Experience**: Portable coding on laptops, coffee shop programming</a:t>
            </a:r>
          </a:p>
          <a:p/>
          <a:p/>
          <a:p>
            <a:r>
              <a:t>## Cloud, APIs &amp; Low-Code Platforms (2010s)</a:t>
            </a:r>
          </a:p>
          <a:p/>
          <a:p>
            <a:r>
              <a:t>**The Orchestration Era**:</a:t>
            </a:r>
          </a:p>
          <a:p/>
          <a:p>
            <a:pPr/>
            <a:r>
              <a:t>**Cloud Computing**: Virtualization and containerization (Docker, Kubernetes)</a:t>
            </a:r>
          </a:p>
          <a:p>
            <a:pPr/>
            <a:r>
              <a:t>**APIs**: REST and GraphQL enabled modular integration</a:t>
            </a:r>
          </a:p>
          <a:p>
            <a:pPr/>
            <a:r>
              <a:t>**Low-Code Platforms**: Mendix, OutSystems, PowerApps with visual compilers</a:t>
            </a:r>
          </a:p>
          <a:p/>
          <a:p>
            <a:r>
              <a:t>**Transformation**: Programming shifted from hardware-bound tasks to orchestration</a:t>
            </a:r>
          </a:p>
          <a:p/>
          <a:p>
            <a:r>
              <a:t>**Experience**: Browser dashboards, swiping, clicking, dragging</a:t>
            </a:r>
          </a:p>
          <a:p/>
          <a:p/>
          <a:p>
            <a:r>
              <a:t>## The Modern Mainstream Coding Experience</a:t>
            </a:r>
          </a:p>
          <a:p/>
          <a:p>
            <a:r>
              <a:t>**Intent Interpretation**:</a:t>
            </a:r>
          </a:p>
          <a:p/>
          <a:p>
            <a:pPr/>
            <a:r>
              <a:t>Developers express intent in higher-level languages, frameworks, and APIs</a:t>
            </a:r>
          </a:p>
          <a:p>
            <a:pPr/>
            <a:r>
              <a:t>Compilers, interpreters, and VMs translate intent into executable code</a:t>
            </a:r>
          </a:p>
          <a:p>
            <a:pPr/>
            <a:r>
              <a:t>Libraries and cloud services provide ready-made building blocks</a:t>
            </a:r>
          </a:p>
          <a:p>
            <a:pPr/>
            <a:r>
              <a:t>Less about micromanaging hardware, more about shaping logic and workflows</a:t>
            </a:r>
          </a:p>
          <a:p/>
          <a:p>
            <a:r>
              <a:t>**The Core**: Bridging human goals with machine execution through layers of abstraction</a:t>
            </a:r>
          </a:p>
          <a:p/>
          <a:p/>
          <a:p>
            <a:r>
              <a:t>## AI-Assisted Coding (Present/Future)</a:t>
            </a:r>
          </a:p>
          <a:p/>
          <a:p>
            <a:r>
              <a:t>**The Natural Language Era**:</a:t>
            </a:r>
          </a:p>
          <a:p/>
          <a:p>
            <a:r>
              <a:t>**Enabling Technologies**:</a:t>
            </a:r>
          </a:p>
          <a:p/>
          <a:p>
            <a:pPr/>
            <a:r>
              <a:t>Large language models trained on vast code repositories</a:t>
            </a:r>
          </a:p>
          <a:p>
            <a:pPr/>
            <a:r>
              <a:t>Contextual intent recognition</a:t>
            </a:r>
          </a:p>
          <a:p>
            <a:pPr/>
            <a:r>
              <a:t>IDE integration</a:t>
            </a:r>
          </a:p>
          <a:p/>
          <a:p>
            <a:r>
              <a:t>**The Paradigm Shift**: Programming becomes **dialogue**</a:t>
            </a:r>
          </a:p>
          <a:p/>
          <a:p>
            <a:pPr/>
            <a:r>
              <a:t>Express goals in plain language</a:t>
            </a:r>
          </a:p>
          <a:p>
            <a:pPr/>
            <a:r>
              <a:t>AI generates code, tests, and documentation</a:t>
            </a:r>
          </a:p>
          <a:p>
            <a:pPr/>
            <a:r>
              <a:t>Example: "Create a function that validates email addresses" → Complete implementation</a:t>
            </a:r>
          </a:p>
          <a:p/>
          <a:p/>
          <a:p>
            <a:r>
              <a:t>## Natural Language Coding: The Game Changer</a:t>
            </a:r>
          </a:p>
          <a:p/>
          <a:p>
            <a:r>
              <a:t>**Responsibility Shift**:</a:t>
            </a:r>
          </a:p>
          <a:p/>
          <a:p>
            <a:pPr/>
            <a:r>
              <a:t>Previously: Coder translates intent into executable code</a:t>
            </a:r>
          </a:p>
          <a:p>
            <a:pPr/>
            <a:r>
              <a:t>Now: Intent expressed in natural language, AI interprets and generates</a:t>
            </a:r>
          </a:p>
          <a:p/>
          <a:p>
            <a:r>
              <a:t>**New Role of Programmer**:</a:t>
            </a:r>
          </a:p>
          <a:p/>
          <a:p>
            <a:pPr/>
            <a:r>
              <a:t>**Curator of context**</a:t>
            </a:r>
          </a:p>
          <a:p>
            <a:pPr/>
            <a:r>
              <a:t>**Validator of output**</a:t>
            </a:r>
          </a:p>
          <a:p>
            <a:pPr/>
            <a:r>
              <a:t>**Steward of alignment** between human goals and machine behavior</a:t>
            </a:r>
          </a:p>
          <a:p/>
          <a:p>
            <a:r>
              <a:t>**Boundary Movement**: Between domain expertise and implementation</a:t>
            </a:r>
          </a:p>
          <a:p/>
          <a:p/>
          <a:p>
            <a:r>
              <a:t>## AI Understands Intent—Not Just Commands</a:t>
            </a:r>
          </a:p>
          <a:p/>
          <a:p>
            <a:r>
              <a:t>**Beyond Parsing**: AI understands what you mean</a:t>
            </a:r>
          </a:p>
          <a:p/>
          <a:p>
            <a:pPr/>
            <a:r>
              <a:t>"Make this faster" → Performance optimizations</a:t>
            </a:r>
          </a:p>
          <a:p>
            <a:pPr/>
            <a:r>
              <a:t>"Add error handling" → Proper exception management</a:t>
            </a:r>
          </a:p>
          <a:p>
            <a:pPr/>
            <a:r>
              <a:t>"Log the output" → Appropriate logging implementation</a:t>
            </a:r>
          </a:p>
          <a:p/>
          <a:p>
            <a:r>
              <a:t>**New Interaction Modes**:</a:t>
            </a:r>
          </a:p>
          <a:p/>
          <a:p>
            <a:pPr/>
            <a:r>
              <a:t>Sketches and examples as expressions of intent</a:t>
            </a:r>
          </a:p>
          <a:p>
            <a:pPr/>
            <a:r>
              <a:t>Test cases and bug reports → Code generation</a:t>
            </a:r>
          </a:p>
          <a:p>
            <a:pPr/>
            <a:r>
              <a:t>Conversational iteration like human collaboration</a:t>
            </a:r>
          </a:p>
          <a:p/>
          <a:p/>
          <a:p>
            <a:r>
              <a:t>## It's Just Another Tool</a:t>
            </a:r>
          </a:p>
          <a:p/>
          <a:p>
            <a:r>
              <a:t>**Historical Perspective**:</a:t>
            </a:r>
          </a:p>
          <a:p/>
          <a:p>
            <a:pPr/>
            <a:r>
              <a:t>**IDEs**: Auto-complete and debugging</a:t>
            </a:r>
          </a:p>
          <a:p>
            <a:pPr/>
            <a:r>
              <a:t>**Libraries**: Reusable components</a:t>
            </a:r>
          </a:p>
          <a:p>
            <a:pPr/>
            <a:r>
              <a:t>**AI**: Intelligent scaffolding, pattern recognition, code generation</a:t>
            </a:r>
          </a:p>
          <a:p/>
          <a:p>
            <a:r>
              <a:t>**Reality Check**:</a:t>
            </a:r>
          </a:p>
          <a:p/>
          <a:p>
            <a:pPr/>
            <a:r>
              <a:t>AI is not replacing developers</a:t>
            </a:r>
          </a:p>
          <a:p>
            <a:pPr/>
            <a:r>
              <a:t>It's helping them move faster and think bigger</a:t>
            </a:r>
          </a:p>
          <a:p>
            <a:pPr/>
            <a:r>
              <a:t>Following the same pattern as previous innovations</a:t>
            </a:r>
          </a:p>
          <a:p/>
          <a:p/>
          <a:p>
            <a:r>
              <a:t>## Verification Still Matters</a:t>
            </a:r>
          </a:p>
          <a:p/>
          <a:p>
            <a:r>
              <a:t>**Unchanged Responsibilities**:</a:t>
            </a:r>
          </a:p>
          <a:p/>
          <a:p>
            <a:pPr/>
            <a:r>
              <a:t>**Testing, review, and validation** still required</a:t>
            </a:r>
          </a:p>
          <a:p>
            <a:pPr/>
            <a:r>
              <a:t>**Architecture, correctness, security, ethics** remain developer duties</a:t>
            </a:r>
          </a:p>
          <a:p>
            <a:pPr/>
            <a:r>
              <a:t>Critical thinking is still essential</a:t>
            </a:r>
          </a:p>
          <a:p/>
          <a:p>
            <a:r>
              <a:t>**What Changed**: How we express our goals</a:t>
            </a:r>
          </a:p>
          <a:p>
            <a:r>
              <a:t>**What Didn't Change**: Whether we need to think critically</a:t>
            </a:r>
          </a:p>
          <a:p/>
          <a:p/>
          <a:p>
            <a:r>
              <a:t>## The Future Is Still Intent-Driven Development</a:t>
            </a:r>
          </a:p>
          <a:p/>
          <a:p>
            <a:r>
              <a:t>**Continuity**:</a:t>
            </a:r>
          </a:p>
          <a:p/>
          <a:p>
            <a:pPr/>
            <a:r>
              <a:t>Core goal remains: getting computers to do what we need</a:t>
            </a:r>
          </a:p>
          <a:p>
            <a:pPr/>
            <a:r>
              <a:t>Instead of writing/debugging code → creating prompts and refining context</a:t>
            </a:r>
          </a:p>
          <a:p>
            <a:pPr/>
            <a:r>
              <a:t>Same learning curve pattern as all previous improvements</a:t>
            </a:r>
          </a:p>
          <a:p/>
          <a:p>
            <a:r>
              <a:t>**Essential Truth**: AI assistance is just another improvement in the long line of programming evolution</a:t>
            </a:r>
          </a:p>
          <a:p/>
          <a:p/>
          <a:p>
            <a:r>
              <a:t>## Conclusion</a:t>
            </a:r>
          </a:p>
          <a:p/>
          <a:p>
            <a:r>
              <a:t>**The Fundamental Truth**:</a:t>
            </a:r>
          </a:p>
          <a:p/>
          <a:p>
            <a:pPr/>
            <a:r>
              <a:t>Programming has **always** been about translating human intent into machine action</a:t>
            </a:r>
          </a:p>
          <a:p>
            <a:pPr/>
            <a:r>
              <a:t>From punch cards to Python to AI prompts—the core challenge remains unchanged</a:t>
            </a:r>
          </a:p>
          <a:p>
            <a:pPr/>
            <a:r>
              <a:t>What evolves is not the essence of programming, but the sophistication of our tools</a:t>
            </a:r>
          </a:p>
          <a:p/>
          <a:p>
            <a:r>
              <a:t>**AI's Role**:</a:t>
            </a:r>
          </a:p>
          <a:p/>
          <a:p>
            <a:pPr/>
            <a:r>
              <a:t>Latest chapter in the ongoing story</a:t>
            </a:r>
          </a:p>
          <a:p>
            <a:pPr/>
            <a:r>
              <a:t>More intuitive ways to communicate with computers</a:t>
            </a:r>
          </a:p>
          <a:p>
            <a:pPr/>
            <a:r>
              <a:t>Preserves essential human responsibilities: design, validation, ethical oversight</a:t>
            </a:r>
          </a:p>
          <a:p/>
          <a:p>
            <a:r>
              <a:t>**The Future**: Not abandoning programming, but refining it—making it more accessible and efficient while keeping human creativity and judgment at the center.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2 - Copilot for Teams</a:t>
            </a:r>
          </a:p>
        </p:txBody>
      </p:sp>
      <p:sp>
        <p:nvSpPr>
          <p:cNvPr id="3" name="Content Placeholder 2"/>
          <p:cNvSpPr>
            <a:spLocks noGrp="1"/>
          </p:cNvSpPr>
          <p:nvPr>
            <p:ph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3 - Intro to Copilot</a:t>
            </a:r>
          </a:p>
        </p:txBody>
      </p:sp>
      <p:sp>
        <p:nvSpPr>
          <p:cNvPr id="3" name="Content Placeholder 2"/>
          <p:cNvSpPr>
            <a:spLocks noGrp="1"/>
          </p:cNvSpPr>
          <p:nvPr>
            <p:ph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4 - Mobbing</a:t>
            </a:r>
          </a:p>
        </p:txBody>
      </p:sp>
      <p:sp>
        <p:nvSpPr>
          <p:cNvPr id="3" name="Content Placeholder 2"/>
          <p:cNvSpPr>
            <a:spLocks noGrp="1"/>
          </p:cNvSpPr>
          <p:nvPr>
            <p:ph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5 - Vibbing</a:t>
            </a:r>
          </a:p>
        </p:txBody>
      </p:sp>
      <p:sp>
        <p:nvSpPr>
          <p:cNvPr id="3" name="Content Placeholder 2"/>
          <p:cNvSpPr>
            <a:spLocks noGrp="1"/>
          </p:cNvSpPr>
          <p:nvPr>
            <p:ph idx="1"/>
          </p:nvPr>
        </p:nvSpPr>
        <p:spPr/>
        <p:txBody>
          <a:bodyPr/>
          <a:lstStyle/>
          <a:p/>
        </p:txBody>
      </p:sp>
    </p:spTree>
  </p:cSld>
  <p:clrMapOvr>
    <a:masterClrMapping/>
  </p:clrMapOvr>
</p:sld>
</file>

<file path=ppt/theme/theme1.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TotalTime>
  <Words>39</Words>
  <Application>Microsoft Office PowerPoint</Application>
  <PresentationFormat>Widescreen</PresentationFormat>
  <Paragraphs>8</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Noto Sans</vt:lpstr>
      <vt:lpstr>Victor Mono</vt:lpstr>
      <vt:lpstr>CODE Training</vt:lpstr>
      <vt:lpstr>PowerPoint Presentation</vt:lpstr>
      <vt:lpstr>Agenda</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3</cp:revision>
  <dcterms:created xsi:type="dcterms:W3CDTF">2025-10-19T18:09:53Z</dcterms:created>
  <dcterms:modified xsi:type="dcterms:W3CDTF">2026-03-12T15:10:45Z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