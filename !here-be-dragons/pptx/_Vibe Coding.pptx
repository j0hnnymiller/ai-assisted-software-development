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328" r:id="rId2"/>
    <p:sldId id="332" r:id="rId3"/>
    <p:sldId id="318" r:id="rId4"/>
    <p:sldId id="333" r:id="rId5"/>
    <p:sldId id="334" r:id="rId6"/>
    <p:sldId id="335" r:id="rId7"/>
    <p:sldId id="336" r:id="rId8"/>
    <p:sldId id="337" r:id="rId9"/>
    <p:sldId id="339" r:id="rId10"/>
    <p:sldId id="338" r:id="rId11"/>
    <p:sldId id="319" r:id="rId12"/>
    <p:sldId id="320" r:id="rId13"/>
    <p:sldId id="321" r:id="rId14"/>
    <p:sldId id="322" r:id="rId15"/>
    <p:sldId id="323" r:id="rId16"/>
    <p:sldId id="340" r:id="rId17"/>
    <p:sldId id="329" r:id="rId18"/>
    <p:sldId id="330" r:id="rId19"/>
    <p:sldId id="331" r:id="rId20"/>
    <p:sldId id="359" r:id="rId21"/>
    <p:sldId id="266" r:id="rId22"/>
    <p:sldId id="34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04D64E-2E77-48D7-ADC7-678658B91DD5}">
          <p14:sldIdLst/>
        </p14:section>
        <p14:section name="Vibe Coding" id="{059A5342-DD61-4C0C-87E1-45D9F38B968C}">
          <p14:sldIdLst>
            <p14:sldId id="328"/>
            <p14:sldId id="332"/>
            <p14:sldId id="318"/>
            <p14:sldId id="333"/>
            <p14:sldId id="334"/>
            <p14:sldId id="335"/>
            <p14:sldId id="336"/>
            <p14:sldId id="337"/>
            <p14:sldId id="339"/>
            <p14:sldId id="338"/>
            <p14:sldId id="319"/>
            <p14:sldId id="320"/>
            <p14:sldId id="321"/>
            <p14:sldId id="322"/>
            <p14:sldId id="323"/>
            <p14:sldId id="340"/>
            <p14:sldId id="329"/>
            <p14:sldId id="330"/>
            <p14:sldId id="331"/>
            <p14:sldId id="359"/>
            <p14:sldId id="266"/>
            <p14:sldId id="34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7" autoAdjust="0"/>
    <p:restoredTop sz="94660"/>
  </p:normalViewPr>
  <p:slideViewPr>
    <p:cSldViewPr snapToGrid="0">
      <p:cViewPr varScale="1">
        <p:scale>
          <a:sx n="160" d="100"/>
          <a:sy n="160" d="100"/>
        </p:scale>
        <p:origin x="10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83A59F-BF24-495A-9181-BA4D55ACE04F}" type="datetimeFigureOut">
              <a:rPr lang="en-US" smtClean="0"/>
              <a:t>3/5/2026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942A8-B534-4F8C-958B-1570E71C4144}" type="slidenum">
              <a:rPr lang="en-US" smtClean="0"/>
              <a:t>‹#›</a:t>
            </a:fld>
            <a:endParaRPr lang="en-US"/>
          </a:p>
        </p:txBody>
      </p:sp>
    </p:spTree>
    <p:extLst>
      <p:ext uri="{BB962C8B-B14F-4D97-AF65-F5344CB8AC3E}">
        <p14:creationId xmlns:p14="http://schemas.microsoft.com/office/powerpoint/2010/main" val="2026271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vscode-file://vscode-app/c:/Users/JohnM/AppData/Local/Programs/Microsoft%20VS%20Code/bdd88df003/resources/app/out/vs/code/electron-browser/workbench/workbench.html"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slide outlines the collaborative development process we’ll follow for building our calculator application — and mob programming will be central to how we work together.</a:t>
            </a:r>
            <a:br>
              <a:rPr lang="en-US" dirty="0">
                <a:effectLst/>
              </a:rPr>
            </a:br>
            <a:br>
              <a:rPr lang="en-US" dirty="0">
                <a:effectLst/>
              </a:rPr>
            </a:br>
            <a:r>
              <a:rPr lang="en-US" dirty="0">
                <a:effectLst/>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lang="en-US" dirty="0">
              <a:effectLst/>
            </a:endParaRPr>
          </a:p>
          <a:p>
            <a:r>
              <a:rPr lang="en-US" dirty="0">
                <a:effectLst/>
              </a:rPr>
              <a:t>We begin with </a:t>
            </a:r>
            <a:r>
              <a:rPr lang="en-US" b="1" dirty="0">
                <a:effectLst/>
              </a:rPr>
              <a:t>Project Setup</a:t>
            </a:r>
            <a:r>
              <a:rPr lang="en-US" dirty="0">
                <a:effectLst/>
              </a:rPr>
              <a:t>, where the team configures the environment, aligns on goals, and prepares the repo. This is done as a mob — one keyboard, one screen, and everyone contributing ideas in real time. It ensures shared understanding from the start.</a:t>
            </a:r>
          </a:p>
          <a:p>
            <a:endParaRPr lang="en-US" dirty="0">
              <a:effectLst/>
            </a:endParaRPr>
          </a:p>
          <a:p>
            <a:r>
              <a:rPr lang="en-US" dirty="0">
                <a:effectLst/>
              </a:rPr>
              <a:t>At the end of the day, we introduce </a:t>
            </a:r>
            <a:r>
              <a:rPr lang="en-US" b="1" dirty="0">
                <a:effectLst/>
              </a:rPr>
              <a:t>Evergreen Software Development</a:t>
            </a:r>
            <a:r>
              <a:rPr lang="en-US" dirty="0">
                <a:effectLst/>
              </a:rPr>
              <a:t> — a mindset of continuous improvement. </a:t>
            </a:r>
            <a:br>
              <a:rPr lang="en-US" dirty="0">
                <a:effectLst/>
              </a:rPr>
            </a:br>
            <a:br>
              <a:rPr lang="en-US" dirty="0">
                <a:effectLst/>
              </a:rPr>
            </a:br>
            <a:r>
              <a:rPr lang="en-US" dirty="0">
                <a:effectLst/>
              </a:rPr>
              <a:t>Random ideas:</a:t>
            </a:r>
            <a:br>
              <a:rPr lang="en-US" dirty="0">
                <a:effectLst/>
              </a:rPr>
            </a:br>
            <a:r>
              <a:rPr lang="en-US" dirty="0">
                <a:effectLst/>
              </a:rPr>
              <a:t>Implementing Observability</a:t>
            </a:r>
          </a:p>
          <a:p>
            <a:endParaRPr lang="en-US" dirty="0">
              <a:effectLst/>
            </a:endParaRPr>
          </a:p>
          <a:p>
            <a:r>
              <a:rPr lang="en-US" sz="1200" b="0" i="0" kern="1200" dirty="0">
                <a:solidFill>
                  <a:schemeClr val="tx1"/>
                </a:solidFill>
                <a:effectLst/>
                <a:latin typeface="+mn-lt"/>
                <a:ea typeface="+mn-ea"/>
                <a:cs typeface="+mn-cs"/>
              </a:rPr>
              <a:t>Scaffold a new C# command line project using .NET. The project should include: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Program.cs</a:t>
            </a:r>
            <a:r>
              <a:rPr lang="en-US" sz="1200" b="0" i="0" kern="1200" dirty="0">
                <a:solidFill>
                  <a:schemeClr val="tx1"/>
                </a:solidFill>
                <a:effectLst/>
                <a:latin typeface="+mn-lt"/>
                <a:ea typeface="+mn-ea"/>
                <a:cs typeface="+mn-cs"/>
              </a:rPr>
              <a:t> file with a simple "Hello, World!" example.</a:t>
            </a:r>
          </a:p>
          <a:p>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csproj</a:t>
            </a:r>
            <a:r>
              <a:rPr lang="en-US" sz="1200" b="0" i="0" kern="1200" dirty="0">
                <a:solidFill>
                  <a:schemeClr val="tx1"/>
                </a:solidFill>
                <a:effectLst/>
                <a:latin typeface="+mn-lt"/>
                <a:ea typeface="+mn-ea"/>
                <a:cs typeface="+mn-cs"/>
              </a:rPr>
              <a:t> file configured for a console application.</a:t>
            </a:r>
          </a:p>
          <a:p>
            <a:r>
              <a:rPr lang="en-US" sz="1200" b="0" i="0" kern="1200" dirty="0">
                <a:solidFill>
                  <a:schemeClr val="tx1"/>
                </a:solidFill>
                <a:effectLst/>
                <a:latin typeface="+mn-lt"/>
                <a:ea typeface="+mn-ea"/>
                <a:cs typeface="+mn-cs"/>
              </a:rPr>
              <a:t>A </a:t>
            </a:r>
            <a:r>
              <a:rPr lang="en-US" sz="1200" b="0" i="0" u="none" strike="noStrike" kern="1200" dirty="0">
                <a:solidFill>
                  <a:schemeClr val="tx1"/>
                </a:solidFill>
                <a:effectLst/>
                <a:latin typeface="+mn-lt"/>
                <a:ea typeface="+mn-ea"/>
                <a:cs typeface="+mn-cs"/>
                <a:hlinkClick r:id="rId3"/>
              </a:rPr>
              <a:t>README.md</a:t>
            </a:r>
            <a:r>
              <a:rPr lang="en-US" sz="1200" b="0" i="0" kern="1200" dirty="0">
                <a:solidFill>
                  <a:schemeClr val="tx1"/>
                </a:solidFill>
                <a:effectLst/>
                <a:latin typeface="+mn-lt"/>
                <a:ea typeface="+mn-ea"/>
                <a:cs typeface="+mn-cs"/>
              </a:rPr>
              <a:t> with build and run instructions.</a:t>
            </a:r>
          </a:p>
          <a:p>
            <a:r>
              <a:rPr lang="en-US" sz="1200" b="0" i="0" kern="1200" dirty="0">
                <a:solidFill>
                  <a:schemeClr val="tx1"/>
                </a:solidFill>
                <a:effectLst/>
                <a:latin typeface="+mn-lt"/>
                <a:ea typeface="+mn-ea"/>
                <a:cs typeface="+mn-cs"/>
              </a:rPr>
              <a:t>The project should be ready to build and run from the command line.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1</a:t>
            </a:fld>
            <a:endParaRPr lang="en-US"/>
          </a:p>
        </p:txBody>
      </p:sp>
    </p:spTree>
    <p:extLst>
      <p:ext uri="{BB962C8B-B14F-4D97-AF65-F5344CB8AC3E}">
        <p14:creationId xmlns:p14="http://schemas.microsoft.com/office/powerpoint/2010/main" val="3919401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E35E8-4D54-B870-F690-C0FDFD7887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148309E-74CC-F20F-E542-53141870B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7AEF050-67BB-E086-2D36-EA39B3B9F6C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0FDFBA73-252C-281D-E6DE-294B7DD3A8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DF95D7-51D5-D355-231A-260EEC97481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838945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66B89-C46B-B58A-B1E8-B8EBC38364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25BC26-175A-098E-340A-9FF2341087F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13FFC-2E79-6745-CB11-BBA0348DDF41}"/>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7D7BC727-A81B-AACB-40E8-A70D73EA4F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F9D9B9-86C3-7943-E58D-00399664F5A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17970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AEEDB-0D99-938E-063E-38B28E37057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FE7A42D-9D23-0CDE-479E-B075900709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E643EF-ECFC-6C28-9CED-2B24DFEE0C6E}"/>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45DCB0F8-A79E-FCE9-4477-95353C25C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C9813E-0097-0D9C-F7A2-A5F88DFA08CD}"/>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80060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7E3C8-00D3-8DBA-293D-1A2D362BC4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60316A-92DA-C27D-D7BD-0DEE68B646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A9E0B9-94C6-5170-5523-9406BB9AAE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FE37E1-D327-E918-365F-337D86A10524}"/>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E8BEA24C-93D1-AD61-2B04-BF3C06DBCC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BA0058-1980-D812-98D6-359446C2CB3F}"/>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2243314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22B6-F902-8891-8274-286F429B087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BFECE9-F26E-09E7-56CF-AFD528251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5396021-2E87-3DEC-C643-1FFDA4826BF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0DC4644-BE67-9D93-9472-78C0635541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04BC81-9B98-F8C3-2C75-8ED5B2F6EF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055FCA-EB48-4A9B-840B-001B44E70B7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8" name="Footer Placeholder 7">
            <a:extLst>
              <a:ext uri="{FF2B5EF4-FFF2-40B4-BE49-F238E27FC236}">
                <a16:creationId xmlns:a16="http://schemas.microsoft.com/office/drawing/2014/main" id="{DE9A3140-862D-5AF3-0C31-66743F1384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8036C3A-8846-43B8-0F46-4DDA49612967}"/>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3874788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31C59-3446-F59B-6051-75EEFD35538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C4B7DD-095B-6365-E479-3E2FEE36EFAD}"/>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4" name="Footer Placeholder 3">
            <a:extLst>
              <a:ext uri="{FF2B5EF4-FFF2-40B4-BE49-F238E27FC236}">
                <a16:creationId xmlns:a16="http://schemas.microsoft.com/office/drawing/2014/main" id="{16CF2D8E-6708-FDF6-CC15-B60C4B05E4D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F1A857-8E57-88FB-86C4-12A239B9587B}"/>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840097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3C6BF8-7B8A-4333-217A-CC498739576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3" name="Footer Placeholder 2">
            <a:extLst>
              <a:ext uri="{FF2B5EF4-FFF2-40B4-BE49-F238E27FC236}">
                <a16:creationId xmlns:a16="http://schemas.microsoft.com/office/drawing/2014/main" id="{65E21C0D-3861-264B-6AB8-137DF84F483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A66412-14B2-CCE6-1119-4307B665C166}"/>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194896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29662-D7E7-CDB3-9E68-FEBA4C9113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CA65BF-173E-AC57-6B7F-ECEA76DA32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B757A7-89F5-CF87-085C-FF70B34EE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DD1E40-1231-676F-9930-EF20A8F47038}"/>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DDC31C38-172A-53F4-5FC2-87E79A57D3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D522D6-6810-9CDF-744D-4B1B9CC0DCE0}"/>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3561065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7224A-3FB3-2B6F-2FBF-0ABF861247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49293F-8EA2-9D00-70F8-AC8564FD2B1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13BB3E3-1746-F999-D4F5-DD3FC65EDC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C0DF420-0301-88A1-8CFC-C90AE7C968E4}"/>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6" name="Footer Placeholder 5">
            <a:extLst>
              <a:ext uri="{FF2B5EF4-FFF2-40B4-BE49-F238E27FC236}">
                <a16:creationId xmlns:a16="http://schemas.microsoft.com/office/drawing/2014/main" id="{BA5F5070-C57C-8109-2B84-CD6589F10F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21ED7A-3D29-AC0D-6E34-976F723CB7B2}"/>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405815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9DCD7-D2BC-A2C2-809A-241604380B1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727A784-6A72-7B64-A6DA-FBCD8BCCAD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6D716-BCE2-92F0-6B46-C07D6164DFC3}"/>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377D7981-8BC7-84FE-9D5D-8D08009246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89B2B1-1D27-FC41-815B-13BF5B010635}"/>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4167120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B9215E-5518-4725-B9AA-B080630EFD0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E6F3F2D-D220-CBF0-B85A-34C32D2AD9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0D8AC-6126-A0F4-F5B8-9B2CDAA87889}"/>
              </a:ext>
            </a:extLst>
          </p:cNvPr>
          <p:cNvSpPr>
            <a:spLocks noGrp="1"/>
          </p:cNvSpPr>
          <p:nvPr>
            <p:ph type="dt" sz="half" idx="10"/>
          </p:nvPr>
        </p:nvSpPr>
        <p:spPr/>
        <p:txBody>
          <a:body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7B17D937-23E4-C7CB-60D9-99C839CC80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625253-6F8F-8218-3737-B7625C7A98DD}"/>
              </a:ext>
            </a:extLst>
          </p:cNvPr>
          <p:cNvSpPr>
            <a:spLocks noGrp="1"/>
          </p:cNvSpPr>
          <p:nvPr>
            <p:ph type="sldNum" sz="quarter" idx="12"/>
          </p:nvPr>
        </p:nvSpPr>
        <p:spPr/>
        <p:txBody>
          <a:bodyPr/>
          <a:lstStyle/>
          <a:p>
            <a:fld id="{CE663EE3-E133-47D0-9280-A497C2B0400A}" type="slidenum">
              <a:rPr lang="en-US" smtClean="0"/>
              <a:t>‹#›</a:t>
            </a:fld>
            <a:endParaRPr lang="en-US"/>
          </a:p>
        </p:txBody>
      </p:sp>
    </p:spTree>
    <p:extLst>
      <p:ext uri="{BB962C8B-B14F-4D97-AF65-F5344CB8AC3E}">
        <p14:creationId xmlns:p14="http://schemas.microsoft.com/office/powerpoint/2010/main" val="24467510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70D688-996C-762D-7A7A-DCCA0F2BDB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5FA22F-45E5-8E4D-B32A-369FFE9E07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DA09E7-1AB3-2D5A-212C-96382C1E88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03AE09-5DD2-4E57-90A1-2C2227CEEC89}" type="datetimeFigureOut">
              <a:rPr lang="en-US" smtClean="0"/>
              <a:t>3/5/2026</a:t>
            </a:fld>
            <a:endParaRPr lang="en-US"/>
          </a:p>
        </p:txBody>
      </p:sp>
      <p:sp>
        <p:nvSpPr>
          <p:cNvPr id="5" name="Footer Placeholder 4">
            <a:extLst>
              <a:ext uri="{FF2B5EF4-FFF2-40B4-BE49-F238E27FC236}">
                <a16:creationId xmlns:a16="http://schemas.microsoft.com/office/drawing/2014/main" id="{140B927A-83C6-B633-9C47-AFD9C9DE9F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A4C54C2-904E-10E2-80CB-80C6B5186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E663EE3-E133-47D0-9280-A497C2B0400A}" type="slidenum">
              <a:rPr lang="en-US" smtClean="0"/>
              <a:t>‹#›</a:t>
            </a:fld>
            <a:endParaRPr lang="en-US"/>
          </a:p>
        </p:txBody>
      </p:sp>
    </p:spTree>
    <p:extLst>
      <p:ext uri="{BB962C8B-B14F-4D97-AF65-F5344CB8AC3E}">
        <p14:creationId xmlns:p14="http://schemas.microsoft.com/office/powerpoint/2010/main" val="1213419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4AFB-EE22-469C-B2B2-1C5C251E4112}"/>
              </a:ext>
            </a:extLst>
          </p:cNvPr>
          <p:cNvSpPr>
            <a:spLocks noGrp="1"/>
          </p:cNvSpPr>
          <p:nvPr>
            <p:ph type="title"/>
          </p:nvPr>
        </p:nvSpPr>
        <p:spPr/>
        <p:txBody>
          <a:bodyPr>
            <a:noAutofit/>
          </a:bodyPr>
          <a:lstStyle/>
          <a:p>
            <a:r>
              <a:rPr lang="en-US" sz="3733" dirty="0"/>
              <a:t>Collaborating on a Solution</a:t>
            </a:r>
          </a:p>
        </p:txBody>
      </p:sp>
      <p:sp>
        <p:nvSpPr>
          <p:cNvPr id="3" name="Content Placeholder 2">
            <a:extLst>
              <a:ext uri="{FF2B5EF4-FFF2-40B4-BE49-F238E27FC236}">
                <a16:creationId xmlns:a16="http://schemas.microsoft.com/office/drawing/2014/main" id="{6DD19230-356B-0C2C-250A-E56F7FE853A2}"/>
              </a:ext>
            </a:extLst>
          </p:cNvPr>
          <p:cNvSpPr>
            <a:spLocks noGrp="1"/>
          </p:cNvSpPr>
          <p:nvPr>
            <p:ph idx="1"/>
          </p:nvPr>
        </p:nvSpPr>
        <p:spPr/>
        <p:txBody>
          <a:bodyPr>
            <a:normAutofit fontScale="62500" lnSpcReduction="20000"/>
          </a:bodyPr>
          <a:lstStyle/>
          <a:p>
            <a:r>
              <a:rPr lang="en-US" dirty="0"/>
              <a:t>Project Setup</a:t>
            </a:r>
          </a:p>
          <a:p>
            <a:r>
              <a:rPr lang="en-US" dirty="0"/>
              <a:t>Adding Features</a:t>
            </a:r>
          </a:p>
          <a:p>
            <a:pPr lvl="1"/>
            <a:r>
              <a:rPr lang="en-US" dirty="0"/>
              <a:t>Basic Arithmetic - Addition, subtraction, multiplication, division</a:t>
            </a:r>
          </a:p>
          <a:p>
            <a:pPr lvl="1"/>
            <a:r>
              <a:rPr lang="en-US" dirty="0"/>
              <a:t>Clear / Reset Function - Quickly resets the current input or entire calculation</a:t>
            </a:r>
          </a:p>
          <a:p>
            <a:pPr lvl="1"/>
            <a:r>
              <a:rPr lang="en-US" dirty="0"/>
              <a:t>Decimal Support - Allows entry and computation with decimal numbers</a:t>
            </a:r>
          </a:p>
          <a:p>
            <a:pPr lvl="1"/>
            <a:r>
              <a:rPr lang="en-US" dirty="0"/>
              <a:t>Sign Toggle (+/–) - Switches values between positive and negative</a:t>
            </a:r>
          </a:p>
          <a:p>
            <a:pPr lvl="1"/>
            <a:r>
              <a:rPr lang="en-US" dirty="0"/>
              <a:t>Percentage Function - Converts values to percentages for quick calculations</a:t>
            </a:r>
          </a:p>
          <a:p>
            <a:pPr lvl="1"/>
            <a:r>
              <a:rPr lang="en-US" dirty="0"/>
              <a:t>Memory Functions (M+, M–, MR, MC) - Store, recall, add to, or clear memory values</a:t>
            </a:r>
          </a:p>
          <a:p>
            <a:pPr lvl="1"/>
            <a:r>
              <a:rPr lang="en-US" dirty="0"/>
              <a:t>Error Handling - Displays errors such as division by zero</a:t>
            </a:r>
          </a:p>
          <a:p>
            <a:pPr lvl="1"/>
            <a:r>
              <a:rPr lang="en-US" dirty="0"/>
              <a:t>Simple, Intuitive Interface - Numeric keypad, operation buttons, and display screen</a:t>
            </a:r>
          </a:p>
          <a:p>
            <a:r>
              <a:rPr lang="en-US" dirty="0"/>
              <a:t>Test Automation</a:t>
            </a:r>
          </a:p>
          <a:p>
            <a:pPr lvl="1"/>
            <a:r>
              <a:rPr lang="en-US" dirty="0"/>
              <a:t>Code Coverage</a:t>
            </a:r>
          </a:p>
          <a:p>
            <a:r>
              <a:rPr lang="en-US" dirty="0"/>
              <a:t>Dependency Management</a:t>
            </a:r>
          </a:p>
          <a:p>
            <a:r>
              <a:rPr lang="en-US" dirty="0"/>
              <a:t>Comparing Implementations</a:t>
            </a:r>
          </a:p>
          <a:p>
            <a:r>
              <a:rPr lang="en-US" dirty="0"/>
              <a:t>Chat Management</a:t>
            </a:r>
          </a:p>
          <a:p>
            <a:r>
              <a:rPr lang="en-US" dirty="0"/>
              <a:t>Intro to Evergreen Software Development</a:t>
            </a:r>
          </a:p>
          <a:p>
            <a:pPr lvl="1"/>
            <a:endParaRPr lang="en-US" dirty="0"/>
          </a:p>
        </p:txBody>
      </p:sp>
    </p:spTree>
    <p:extLst>
      <p:ext uri="{BB962C8B-B14F-4D97-AF65-F5344CB8AC3E}">
        <p14:creationId xmlns:p14="http://schemas.microsoft.com/office/powerpoint/2010/main" val="26809303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3C4-72B9-220F-0517-8BA1C47EB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E2AFC-5932-926B-7559-C8EC43B1A818}"/>
              </a:ext>
            </a:extLst>
          </p:cNvPr>
          <p:cNvSpPr>
            <a:spLocks noGrp="1"/>
          </p:cNvSpPr>
          <p:nvPr>
            <p:ph type="title"/>
          </p:nvPr>
        </p:nvSpPr>
        <p:spPr/>
        <p:txBody>
          <a:bodyPr>
            <a:noAutofit/>
          </a:bodyPr>
          <a:lstStyle/>
          <a:p>
            <a:r>
              <a:rPr lang="en-US" sz="2400" dirty="0"/>
              <a:t>Exercise: Calculator Project - Setup &amp; Basic Implementation</a:t>
            </a:r>
          </a:p>
        </p:txBody>
      </p:sp>
      <p:sp>
        <p:nvSpPr>
          <p:cNvPr id="3" name="Content Placeholder 2">
            <a:extLst>
              <a:ext uri="{FF2B5EF4-FFF2-40B4-BE49-F238E27FC236}">
                <a16:creationId xmlns:a16="http://schemas.microsoft.com/office/drawing/2014/main" id="{88E86E3E-E069-0555-C998-046EFF5BB070}"/>
              </a:ext>
            </a:extLst>
          </p:cNvPr>
          <p:cNvSpPr>
            <a:spLocks noGrp="1"/>
          </p:cNvSpPr>
          <p:nvPr>
            <p:ph idx="1"/>
          </p:nvPr>
        </p:nvSpPr>
        <p:spPr/>
        <p:txBody>
          <a:bodyPr numCol="2">
            <a:normAutofit fontScale="62500" lnSpcReduction="20000"/>
          </a:bodyPr>
          <a:lstStyle/>
          <a:p>
            <a:pPr marL="0" indent="0">
              <a:buNone/>
            </a:pPr>
            <a:r>
              <a:rPr lang="en-US" b="1" dirty="0"/>
              <a:t>Duration:</a:t>
            </a:r>
            <a:r>
              <a:rPr lang="en-US" dirty="0"/>
              <a:t> 45-60 minutes</a:t>
            </a:r>
          </a:p>
          <a:p>
            <a:pPr marL="0" indent="0">
              <a:buNone/>
            </a:pPr>
            <a:br>
              <a:rPr lang="en-US" b="1" dirty="0"/>
            </a:br>
            <a:r>
              <a:rPr lang="en-US" b="1" dirty="0"/>
              <a:t>Objectives</a:t>
            </a:r>
            <a:br>
              <a:rPr lang="en-US" dirty="0"/>
            </a:br>
            <a:endParaRPr lang="en-US" dirty="0"/>
          </a:p>
          <a:p>
            <a:pPr lvl="1"/>
            <a:r>
              <a:rPr lang="en-US" dirty="0"/>
              <a:t>Use AI to generate starter code for arithmetic operations</a:t>
            </a:r>
          </a:p>
          <a:p>
            <a:pPr lvl="1"/>
            <a:r>
              <a:rPr lang="en-US" dirty="0"/>
              <a:t>Understand how to validate AI‑generated logic</a:t>
            </a:r>
          </a:p>
          <a:p>
            <a:pPr lvl="1"/>
            <a:r>
              <a:rPr lang="en-US" dirty="0"/>
              <a:t>Integrate addition, subtraction, multiplication, and division functions</a:t>
            </a:r>
          </a:p>
          <a:p>
            <a:pPr marL="0" indent="0">
              <a:buNone/>
            </a:pPr>
            <a:br>
              <a:rPr lang="en-US" dirty="0"/>
            </a:br>
            <a:r>
              <a:rPr lang="en-US" b="1" dirty="0"/>
              <a:t>Activities</a:t>
            </a:r>
            <a:br>
              <a:rPr lang="en-US" dirty="0"/>
            </a:br>
            <a:endParaRPr lang="en-US" dirty="0"/>
          </a:p>
          <a:p>
            <a:pPr marL="0" indent="0">
              <a:buNone/>
            </a:pPr>
            <a:r>
              <a:rPr lang="en-US" dirty="0"/>
              <a:t>1. </a:t>
            </a:r>
            <a:r>
              <a:rPr lang="en-US" b="1" dirty="0"/>
              <a:t>Project Initialization</a:t>
            </a:r>
            <a:r>
              <a:rPr lang="en-US" dirty="0"/>
              <a:t>:</a:t>
            </a:r>
            <a:br>
              <a:rPr lang="en-US" dirty="0"/>
            </a:br>
            <a:endParaRPr lang="en-US" dirty="0"/>
          </a:p>
          <a:p>
            <a:pPr lvl="1"/>
            <a:r>
              <a:rPr lang="en-US" dirty="0"/>
              <a:t>Prompt AI to create a new project</a:t>
            </a:r>
          </a:p>
          <a:p>
            <a:pPr lvl="1"/>
            <a:r>
              <a:rPr lang="en-US" dirty="0"/>
              <a:t>Review generated project structure</a:t>
            </a:r>
          </a:p>
          <a:p>
            <a:pPr lvl="1"/>
            <a:r>
              <a:rPr lang="en-US" dirty="0"/>
              <a:t>Verify build configuration</a:t>
            </a:r>
            <a:br>
              <a:rPr lang="en-US" dirty="0"/>
            </a:br>
            <a:endParaRPr lang="en-US" dirty="0"/>
          </a:p>
          <a:p>
            <a:pPr marL="0" indent="0">
              <a:buNone/>
            </a:pPr>
            <a:r>
              <a:rPr lang="en-US" dirty="0"/>
              <a:t>2. </a:t>
            </a:r>
            <a:r>
              <a:rPr lang="en-US" b="1" dirty="0"/>
              <a:t>Implement Basic Operations</a:t>
            </a:r>
            <a:r>
              <a:rPr lang="en-US" dirty="0"/>
              <a:t>:</a:t>
            </a:r>
          </a:p>
          <a:p>
            <a:pPr lvl="1"/>
            <a:r>
              <a:rPr lang="en-US" dirty="0"/>
              <a:t>Prompt AI to add methods for addition, subtraction, multiplication, and division</a:t>
            </a:r>
          </a:p>
          <a:p>
            <a:pPr marL="0" indent="0">
              <a:buNone/>
            </a:pPr>
            <a:r>
              <a:rPr lang="en-US" dirty="0"/>
              <a:t>3. </a:t>
            </a:r>
            <a:r>
              <a:rPr lang="en-US" b="1" dirty="0"/>
              <a:t>Review the Code:</a:t>
            </a:r>
          </a:p>
          <a:p>
            <a:pPr lvl="1"/>
            <a:r>
              <a:rPr lang="en-US" dirty="0"/>
              <a:t>For correctness and edge cases</a:t>
            </a:r>
          </a:p>
          <a:p>
            <a:pPr marL="0" indent="0">
              <a:buNone/>
            </a:pPr>
            <a:r>
              <a:rPr lang="en-US" dirty="0"/>
              <a:t>4. </a:t>
            </a:r>
            <a:r>
              <a:rPr lang="en-US" b="1" dirty="0"/>
              <a:t>Build and Run</a:t>
            </a:r>
            <a:r>
              <a:rPr lang="en-US" dirty="0"/>
              <a:t>:</a:t>
            </a:r>
          </a:p>
          <a:p>
            <a:pPr lvl="1"/>
            <a:r>
              <a:rPr lang="en-US" dirty="0"/>
              <a:t>Use Copilot to help with build commands</a:t>
            </a:r>
          </a:p>
          <a:p>
            <a:pPr lvl="1"/>
            <a:r>
              <a:rPr lang="en-US" dirty="0"/>
              <a:t>Troubleshoot any compilation errors with Copilot's help</a:t>
            </a:r>
          </a:p>
          <a:p>
            <a:pPr lvl="1"/>
            <a:r>
              <a:rPr lang="en-US" dirty="0"/>
              <a:t>Run the application</a:t>
            </a:r>
          </a:p>
          <a:p>
            <a:pPr marL="457189" lvl="1" indent="0">
              <a:buNone/>
            </a:pPr>
            <a:endParaRPr lang="en-US" dirty="0"/>
          </a:p>
          <a:p>
            <a:r>
              <a:rPr lang="en-US" b="1" dirty="0"/>
              <a:t>Success Criteria</a:t>
            </a:r>
            <a:endParaRPr lang="en-US" dirty="0"/>
          </a:p>
          <a:p>
            <a:pPr lvl="1"/>
            <a:r>
              <a:rPr lang="en-US" dirty="0"/>
              <a:t>Working calculator with 4 basic operations</a:t>
            </a:r>
          </a:p>
          <a:p>
            <a:pPr lvl="1"/>
            <a:r>
              <a:rPr lang="en-US" dirty="0"/>
              <a:t>Application compiles and runs successfully</a:t>
            </a:r>
          </a:p>
          <a:p>
            <a:pPr lvl="1"/>
            <a:r>
              <a:rPr lang="en-US" dirty="0"/>
              <a:t>You've critically reviewed all generated code</a:t>
            </a:r>
          </a:p>
          <a:p>
            <a:pPr marL="0" indent="0">
              <a:buNone/>
            </a:pPr>
            <a:endParaRPr lang="en-US" dirty="0"/>
          </a:p>
        </p:txBody>
      </p:sp>
    </p:spTree>
    <p:extLst>
      <p:ext uri="{BB962C8B-B14F-4D97-AF65-F5344CB8AC3E}">
        <p14:creationId xmlns:p14="http://schemas.microsoft.com/office/powerpoint/2010/main" val="4014121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7B7F-7AF7-5A7E-4BCD-291BF6D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CE5F-3E80-C5C0-FD15-1C6683C47AA3}"/>
              </a:ext>
            </a:extLst>
          </p:cNvPr>
          <p:cNvSpPr>
            <a:spLocks noGrp="1"/>
          </p:cNvSpPr>
          <p:nvPr>
            <p:ph type="title"/>
          </p:nvPr>
        </p:nvSpPr>
        <p:spPr/>
        <p:txBody>
          <a:bodyPr>
            <a:noAutofit/>
          </a:bodyPr>
          <a:lstStyle/>
          <a:p>
            <a:r>
              <a:rPr lang="en-US" sz="2400" dirty="0"/>
              <a:t>Exercise: Calculator Project – Clear / Reset </a:t>
            </a:r>
          </a:p>
        </p:txBody>
      </p:sp>
      <p:sp>
        <p:nvSpPr>
          <p:cNvPr id="3" name="Content Placeholder 2">
            <a:extLst>
              <a:ext uri="{FF2B5EF4-FFF2-40B4-BE49-F238E27FC236}">
                <a16:creationId xmlns:a16="http://schemas.microsoft.com/office/drawing/2014/main" id="{48109E4E-5E81-42BB-CF7C-D073CC35305A}"/>
              </a:ext>
            </a:extLst>
          </p:cNvPr>
          <p:cNvSpPr>
            <a:spLocks noGrp="1"/>
          </p:cNvSpPr>
          <p:nvPr>
            <p:ph idx="1"/>
          </p:nvPr>
        </p:nvSpPr>
        <p:spPr/>
        <p:txBody>
          <a:bodyPr numCol="2">
            <a:normAutofit fontScale="85000" lnSpcReduction="20000"/>
          </a:bodyPr>
          <a:lstStyle/>
          <a:p>
            <a:pPr marL="0" indent="0">
              <a:buNone/>
            </a:pPr>
            <a:r>
              <a:rPr lang="en-US" b="1" dirty="0"/>
              <a:t>Duration: </a:t>
            </a:r>
            <a:r>
              <a:rPr lang="en-US" dirty="0"/>
              <a:t>15 minutes</a:t>
            </a:r>
          </a:p>
          <a:p>
            <a:pPr marL="0" indent="0">
              <a:buNone/>
            </a:pPr>
            <a:br>
              <a:rPr lang="en-US" b="1" dirty="0"/>
            </a:br>
            <a:r>
              <a:rPr lang="en-US" b="1" dirty="0"/>
              <a:t>Objectives</a:t>
            </a:r>
            <a:br>
              <a:rPr lang="en-US" dirty="0"/>
            </a:br>
            <a:endParaRPr lang="en-US" dirty="0"/>
          </a:p>
          <a:p>
            <a:pPr lvl="1"/>
            <a:r>
              <a:rPr lang="en-US" dirty="0"/>
              <a:t>Use AI to scaffold state‑management logic</a:t>
            </a:r>
          </a:p>
          <a:p>
            <a:pPr lvl="1"/>
            <a:r>
              <a:rPr lang="en-US" dirty="0"/>
              <a:t>Implement CE (clear entry) and C (clear all) behaviors</a:t>
            </a:r>
          </a:p>
          <a:p>
            <a:pPr lvl="1"/>
            <a:r>
              <a:rPr lang="en-US" dirty="0"/>
              <a:t>Understand how AI can help reason about UI state transitions</a:t>
            </a:r>
          </a:p>
          <a:p>
            <a:pPr lvl="1"/>
            <a:endParaRPr lang="en-US" dirty="0"/>
          </a:p>
          <a:p>
            <a:pPr marL="0" indent="0">
              <a:buNone/>
            </a:pPr>
            <a:br>
              <a:rPr lang="en-US" dirty="0"/>
            </a:br>
            <a:r>
              <a:rPr lang="en-US" b="1" dirty="0"/>
              <a:t>Activities</a:t>
            </a:r>
            <a:br>
              <a:rPr lang="en-US" dirty="0"/>
            </a:br>
            <a:endParaRPr lang="en-US" dirty="0"/>
          </a:p>
          <a:p>
            <a:pPr marL="609585" indent="-609585">
              <a:buAutoNum type="arabicPeriod"/>
            </a:pPr>
            <a:r>
              <a:rPr lang="en-US" dirty="0"/>
              <a:t>Prompt AI to outline the difference between CE and C</a:t>
            </a:r>
          </a:p>
          <a:p>
            <a:pPr marL="609585" indent="-609585">
              <a:buAutoNum type="arabicPeriod"/>
            </a:pPr>
            <a:r>
              <a:rPr lang="en-US" dirty="0"/>
              <a:t>Generate code for clearing the current input vs. full state</a:t>
            </a:r>
          </a:p>
          <a:p>
            <a:pPr marL="609585" indent="-609585">
              <a:buAutoNum type="arabicPeriod"/>
            </a:pPr>
            <a:r>
              <a:rPr lang="en-US" dirty="0"/>
              <a:t>Integrate the logic into your calculator’s state object</a:t>
            </a:r>
          </a:p>
          <a:p>
            <a:pPr marL="609585" indent="-609585">
              <a:buAutoNum type="arabicPeriod"/>
            </a:pPr>
            <a:r>
              <a:rPr lang="en-US" dirty="0"/>
              <a:t>Test transitions by simulating user input sequences</a:t>
            </a:r>
          </a:p>
          <a:p>
            <a:pPr marL="457189" lvl="1" indent="0">
              <a:buNone/>
            </a:pPr>
            <a:endParaRPr lang="en-US" dirty="0"/>
          </a:p>
          <a:p>
            <a:r>
              <a:rPr lang="en-US" b="1" dirty="0"/>
              <a:t>Success Criteria</a:t>
            </a:r>
            <a:endParaRPr lang="en-US" dirty="0"/>
          </a:p>
          <a:p>
            <a:pPr lvl="1"/>
            <a:r>
              <a:rPr lang="en-US" dirty="0"/>
              <a:t>- CE clears only the active entry</a:t>
            </a:r>
          </a:p>
          <a:p>
            <a:pPr lvl="1"/>
            <a:r>
              <a:rPr lang="en-US" dirty="0"/>
              <a:t>- C resets the entire calculator state</a:t>
            </a:r>
          </a:p>
          <a:p>
            <a:pPr lvl="1"/>
            <a:endParaRPr lang="en-US" dirty="0"/>
          </a:p>
          <a:p>
            <a:pPr marL="0" indent="0">
              <a:buNone/>
            </a:pPr>
            <a:endParaRPr lang="en-US" dirty="0"/>
          </a:p>
        </p:txBody>
      </p:sp>
    </p:spTree>
    <p:extLst>
      <p:ext uri="{BB962C8B-B14F-4D97-AF65-F5344CB8AC3E}">
        <p14:creationId xmlns:p14="http://schemas.microsoft.com/office/powerpoint/2010/main" val="99511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A8BD-3DE5-AD8D-9F74-92D471884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41D9-DDE4-EB35-BDC1-328BF3A60598}"/>
              </a:ext>
            </a:extLst>
          </p:cNvPr>
          <p:cNvSpPr>
            <a:spLocks noGrp="1"/>
          </p:cNvSpPr>
          <p:nvPr>
            <p:ph type="title"/>
          </p:nvPr>
        </p:nvSpPr>
        <p:spPr/>
        <p:txBody>
          <a:bodyPr>
            <a:noAutofit/>
          </a:bodyPr>
          <a:lstStyle/>
          <a:p>
            <a:r>
              <a:rPr lang="en-US" sz="2400" dirty="0"/>
              <a:t>Exercise: Calculator Project – Decimal Input</a:t>
            </a:r>
          </a:p>
        </p:txBody>
      </p:sp>
      <p:sp>
        <p:nvSpPr>
          <p:cNvPr id="3" name="Content Placeholder 2">
            <a:extLst>
              <a:ext uri="{FF2B5EF4-FFF2-40B4-BE49-F238E27FC236}">
                <a16:creationId xmlns:a16="http://schemas.microsoft.com/office/drawing/2014/main" id="{DF01D80A-9518-180D-6821-1BA66D9AE9CD}"/>
              </a:ext>
            </a:extLst>
          </p:cNvPr>
          <p:cNvSpPr>
            <a:spLocks noGrp="1"/>
          </p:cNvSpPr>
          <p:nvPr>
            <p:ph idx="1"/>
          </p:nvPr>
        </p:nvSpPr>
        <p:spPr/>
        <p:txBody>
          <a:bodyPr numCol="2">
            <a:noAutofit/>
          </a:bodyPr>
          <a:lstStyle/>
          <a:p>
            <a:pPr marL="0" indent="0">
              <a:buNone/>
            </a:pPr>
            <a:r>
              <a:rPr lang="en-US" sz="1600" b="1" dirty="0"/>
              <a:t>Duration: 12 minutes</a:t>
            </a:r>
            <a:endParaRPr lang="en-US" sz="1600" dirty="0"/>
          </a:p>
          <a:p>
            <a:pPr marL="0" indent="0">
              <a:buNone/>
            </a:pPr>
            <a:br>
              <a:rPr lang="en-US" sz="1600" b="1" dirty="0"/>
            </a:br>
            <a:r>
              <a:rPr lang="en-US" sz="1600" b="1" dirty="0"/>
              <a:t>Objectives</a:t>
            </a:r>
            <a:br>
              <a:rPr lang="en-US" sz="1600" dirty="0"/>
            </a:br>
            <a:endParaRPr lang="en-US" sz="1600" dirty="0"/>
          </a:p>
          <a:p>
            <a:r>
              <a:rPr lang="en-US" sz="2000" dirty="0"/>
              <a:t>Use AI to generate input‑validation logic</a:t>
            </a:r>
          </a:p>
          <a:p>
            <a:r>
              <a:rPr lang="en-US" sz="2000" dirty="0"/>
              <a:t>Prevent multiple decimal points</a:t>
            </a:r>
          </a:p>
          <a:p>
            <a:r>
              <a:rPr lang="en-US" sz="2000" dirty="0"/>
              <a:t>Ensure decimals flow correctly through arithmetic operation</a:t>
            </a:r>
          </a:p>
          <a:p>
            <a:pPr lvl="1"/>
            <a:endParaRPr lang="en-US" sz="1600" dirty="0"/>
          </a:p>
          <a:p>
            <a:pPr marL="0" indent="0">
              <a:buNone/>
            </a:pPr>
            <a:br>
              <a:rPr lang="en-US" sz="1600" dirty="0"/>
            </a:br>
            <a:r>
              <a:rPr lang="en-US" sz="1600" b="1" dirty="0"/>
              <a:t>Activities</a:t>
            </a:r>
            <a:br>
              <a:rPr lang="en-US" sz="1600" dirty="0"/>
            </a:br>
            <a:endParaRPr lang="en-US" sz="1600" dirty="0"/>
          </a:p>
          <a:p>
            <a:pPr marL="609585" indent="-609585">
              <a:buAutoNum type="arabicPeriod"/>
            </a:pPr>
            <a:r>
              <a:rPr lang="en-US" sz="1600" dirty="0"/>
              <a:t>Ask AI to propose a strategy for handling decimal input</a:t>
            </a:r>
          </a:p>
          <a:p>
            <a:pPr marL="609585" indent="-609585">
              <a:buAutoNum type="arabicPeriod"/>
            </a:pPr>
            <a:r>
              <a:rPr lang="en-US" sz="1600" dirty="0"/>
              <a:t>Generate code to block multiple decimals in a single number</a:t>
            </a:r>
          </a:p>
          <a:p>
            <a:pPr marL="609585" indent="-609585">
              <a:buAutoNum type="arabicPeriod"/>
            </a:pPr>
            <a:r>
              <a:rPr lang="en-US" sz="1600" dirty="0"/>
              <a:t>Integrate decimal support into the existing input parser</a:t>
            </a:r>
          </a:p>
          <a:p>
            <a:pPr marL="609585" indent="-609585">
              <a:buAutoNum type="arabicPeriod"/>
            </a:pPr>
            <a:r>
              <a:rPr lang="en-US" sz="1600" dirty="0"/>
              <a:t>Test decimal operations using AI‑generated test cases</a:t>
            </a:r>
          </a:p>
          <a:p>
            <a:pPr marL="457189" lvl="1" indent="0">
              <a:buNone/>
            </a:pPr>
            <a:endParaRPr lang="en-US" sz="1600" dirty="0"/>
          </a:p>
          <a:p>
            <a:pPr marL="0" indent="0">
              <a:buNone/>
            </a:pPr>
            <a:r>
              <a:rPr lang="en-US" sz="1600" b="1" dirty="0"/>
              <a:t>Success Criteria</a:t>
            </a:r>
            <a:endParaRPr lang="en-US" sz="1600" dirty="0"/>
          </a:p>
          <a:p>
            <a:r>
              <a:rPr lang="en-US" sz="2000" dirty="0"/>
              <a:t>Decimal input works without duplication errors</a:t>
            </a:r>
          </a:p>
          <a:p>
            <a:r>
              <a:rPr lang="en-US" sz="2000" dirty="0"/>
              <a:t>Arithmetic with decimals produces correct results</a:t>
            </a:r>
          </a:p>
          <a:p>
            <a:r>
              <a:rPr lang="en-US" sz="2000" dirty="0"/>
              <a:t>Learner can explain the validation logic</a:t>
            </a:r>
          </a:p>
          <a:p>
            <a:pPr lvl="1"/>
            <a:endParaRPr lang="en-US" sz="1600" dirty="0"/>
          </a:p>
          <a:p>
            <a:pPr marL="0" indent="0">
              <a:buNone/>
            </a:pPr>
            <a:endParaRPr lang="en-US" sz="1600" dirty="0"/>
          </a:p>
        </p:txBody>
      </p:sp>
    </p:spTree>
    <p:extLst>
      <p:ext uri="{BB962C8B-B14F-4D97-AF65-F5344CB8AC3E}">
        <p14:creationId xmlns:p14="http://schemas.microsoft.com/office/powerpoint/2010/main" val="61492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3F4-1F45-DC75-BA72-20E4EF9B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DD462-F65B-C265-9881-27546BD36E2B}"/>
              </a:ext>
            </a:extLst>
          </p:cNvPr>
          <p:cNvSpPr>
            <a:spLocks noGrp="1"/>
          </p:cNvSpPr>
          <p:nvPr>
            <p:ph type="title"/>
          </p:nvPr>
        </p:nvSpPr>
        <p:spPr/>
        <p:txBody>
          <a:bodyPr>
            <a:noAutofit/>
          </a:bodyPr>
          <a:lstStyle/>
          <a:p>
            <a:r>
              <a:rPr lang="en-US" sz="2400" dirty="0"/>
              <a:t>Exercise: Calculator Project – Sign Toggle (+/–) </a:t>
            </a:r>
          </a:p>
        </p:txBody>
      </p:sp>
      <p:sp>
        <p:nvSpPr>
          <p:cNvPr id="3" name="Content Placeholder 2">
            <a:extLst>
              <a:ext uri="{FF2B5EF4-FFF2-40B4-BE49-F238E27FC236}">
                <a16:creationId xmlns:a16="http://schemas.microsoft.com/office/drawing/2014/main" id="{9012AC57-C0E1-B494-54F3-9D557C819736}"/>
              </a:ext>
            </a:extLst>
          </p:cNvPr>
          <p:cNvSpPr>
            <a:spLocks noGrp="1"/>
          </p:cNvSpPr>
          <p:nvPr>
            <p:ph idx="1"/>
          </p:nvPr>
        </p:nvSpPr>
        <p:spPr/>
        <p:txBody>
          <a:bodyPr numCol="2">
            <a:normAutofit/>
          </a:bodyPr>
          <a:lstStyle/>
          <a:p>
            <a:pPr marL="0" indent="0">
              <a:buNone/>
            </a:pPr>
            <a:r>
              <a:rPr lang="en-US" sz="1867" b="1" dirty="0"/>
              <a:t>Duration: 8 minutes</a:t>
            </a:r>
            <a:endParaRPr lang="en-US" sz="1867" dirty="0"/>
          </a:p>
          <a:p>
            <a:pPr marL="0" indent="0">
              <a:buNone/>
            </a:pPr>
            <a:br>
              <a:rPr lang="en-US" sz="1867" b="1" dirty="0"/>
            </a:br>
            <a:r>
              <a:rPr lang="en-US" sz="1867" b="1" dirty="0"/>
              <a:t>Objectives</a:t>
            </a:r>
            <a:br>
              <a:rPr lang="en-US" sz="1867" dirty="0"/>
            </a:br>
            <a:endParaRPr lang="en-US" sz="1867" dirty="0"/>
          </a:p>
          <a:p>
            <a:pPr lvl="1"/>
            <a:r>
              <a:rPr lang="en-US" sz="1600" dirty="0"/>
              <a:t>Use AI to generate logic for toggling numeric sign</a:t>
            </a:r>
          </a:p>
          <a:p>
            <a:pPr lvl="1"/>
            <a:r>
              <a:rPr lang="en-US" sz="1600" dirty="0"/>
              <a:t>Understand how sign toggling interacts with current input and stored values</a:t>
            </a:r>
          </a:p>
          <a:p>
            <a:pPr marL="0" indent="0">
              <a:buNone/>
            </a:pPr>
            <a:br>
              <a:rPr lang="en-US" sz="1867" dirty="0"/>
            </a:br>
            <a:r>
              <a:rPr lang="en-US" sz="1867" b="1" dirty="0"/>
              <a:t>Activities</a:t>
            </a:r>
            <a:br>
              <a:rPr lang="en-US" sz="1867" dirty="0"/>
            </a:br>
            <a:endParaRPr lang="en-US" sz="1867" dirty="0"/>
          </a:p>
          <a:p>
            <a:pPr marL="609585" indent="-609585">
              <a:buAutoNum type="arabicPeriod"/>
            </a:pPr>
            <a:r>
              <a:rPr lang="en-US" sz="1867" dirty="0"/>
              <a:t>Ask AI to generate a function that toggles sign on the active value</a:t>
            </a:r>
          </a:p>
          <a:p>
            <a:pPr marL="609585" indent="-609585">
              <a:buAutoNum type="arabicPeriod"/>
            </a:pPr>
            <a:r>
              <a:rPr lang="en-US" sz="1867" dirty="0"/>
              <a:t>Integrate the function into the input workflow</a:t>
            </a:r>
          </a:p>
          <a:p>
            <a:pPr marL="609585" indent="-609585">
              <a:buAutoNum type="arabicPeriod"/>
            </a:pPr>
            <a:r>
              <a:rPr lang="en-US" sz="1867" dirty="0"/>
              <a:t>Test sign toggling before and after entering digits</a:t>
            </a:r>
          </a:p>
          <a:p>
            <a:pPr lvl="1"/>
            <a:endParaRPr lang="en-US" sz="1600" dirty="0"/>
          </a:p>
          <a:p>
            <a:pPr marL="457189" lvl="1" indent="0">
              <a:buNone/>
            </a:pPr>
            <a:endParaRPr lang="en-US" sz="1600" dirty="0"/>
          </a:p>
          <a:p>
            <a:pPr marL="0" indent="0">
              <a:buNone/>
            </a:pPr>
            <a:r>
              <a:rPr lang="en-US" sz="1867" b="1" dirty="0"/>
              <a:t>Success Criteria</a:t>
            </a:r>
            <a:endParaRPr lang="en-US" sz="1867" dirty="0"/>
          </a:p>
          <a:p>
            <a:pPr lvl="1"/>
            <a:r>
              <a:rPr lang="en-US" sz="1600" dirty="0"/>
              <a:t>Sign toggle works consistently for integers and decimals</a:t>
            </a:r>
          </a:p>
          <a:p>
            <a:pPr lvl="1"/>
            <a:r>
              <a:rPr lang="en-US" sz="1600" dirty="0"/>
              <a:t>Learner can explain how the toggle affects stored vs. active value</a:t>
            </a:r>
          </a:p>
          <a:p>
            <a:pPr lvl="1"/>
            <a:endParaRPr lang="en-US" sz="1600" dirty="0"/>
          </a:p>
          <a:p>
            <a:pPr marL="0" indent="0">
              <a:buNone/>
            </a:pPr>
            <a:endParaRPr lang="en-US" sz="1867" dirty="0"/>
          </a:p>
        </p:txBody>
      </p:sp>
    </p:spTree>
    <p:extLst>
      <p:ext uri="{BB962C8B-B14F-4D97-AF65-F5344CB8AC3E}">
        <p14:creationId xmlns:p14="http://schemas.microsoft.com/office/powerpoint/2010/main" val="3813870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157E-F4E3-68C7-58C2-AE4A76B37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BD39-37A3-B75C-A5E9-7B06379F8234}"/>
              </a:ext>
            </a:extLst>
          </p:cNvPr>
          <p:cNvSpPr>
            <a:spLocks noGrp="1"/>
          </p:cNvSpPr>
          <p:nvPr>
            <p:ph type="title"/>
          </p:nvPr>
        </p:nvSpPr>
        <p:spPr/>
        <p:txBody>
          <a:bodyPr>
            <a:noAutofit/>
          </a:bodyPr>
          <a:lstStyle/>
          <a:p>
            <a:r>
              <a:rPr lang="en-US" sz="2400" dirty="0"/>
              <a:t>Exercise: Calculator Project – Percentage </a:t>
            </a:r>
          </a:p>
        </p:txBody>
      </p:sp>
      <p:sp>
        <p:nvSpPr>
          <p:cNvPr id="3" name="Content Placeholder 2">
            <a:extLst>
              <a:ext uri="{FF2B5EF4-FFF2-40B4-BE49-F238E27FC236}">
                <a16:creationId xmlns:a16="http://schemas.microsoft.com/office/drawing/2014/main" id="{B1711D04-1023-99F2-A50F-D814C5BDE525}"/>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clarify how calculators interpret %</a:t>
            </a:r>
          </a:p>
          <a:p>
            <a:pPr lvl="1"/>
            <a:r>
              <a:rPr lang="en-US" dirty="0"/>
              <a:t>Implement percentage logic for common patterns</a:t>
            </a:r>
          </a:p>
          <a:p>
            <a:pPr lvl="1"/>
            <a:r>
              <a:rPr lang="en-US" dirty="0"/>
              <a:t>Validate behavior with AI‑generated examples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explain how % should behave in a standard calculator</a:t>
            </a:r>
          </a:p>
          <a:p>
            <a:pPr marL="609585" indent="-609585">
              <a:buAutoNum type="arabicPeriod"/>
            </a:pPr>
            <a:r>
              <a:rPr lang="en-US" dirty="0"/>
              <a:t>Generate code for:</a:t>
            </a:r>
          </a:p>
          <a:p>
            <a:r>
              <a:rPr lang="en-US" dirty="0"/>
              <a:t>X × Y%</a:t>
            </a:r>
          </a:p>
          <a:p>
            <a:r>
              <a:rPr lang="en-US" dirty="0"/>
              <a:t>Y + X%</a:t>
            </a:r>
          </a:p>
          <a:p>
            <a:r>
              <a:rPr lang="en-US" dirty="0"/>
              <a:t>Y – X%</a:t>
            </a:r>
          </a:p>
          <a:p>
            <a:pPr marL="0" indent="0">
              <a:buNone/>
            </a:pPr>
            <a:r>
              <a:rPr lang="en-US" dirty="0"/>
              <a:t>3. Test each pattern with AI‑generated sample values</a:t>
            </a:r>
          </a:p>
          <a:p>
            <a:pPr marL="457189" lvl="1" indent="0">
              <a:buNone/>
            </a:pPr>
            <a:endParaRPr lang="en-US" dirty="0"/>
          </a:p>
          <a:p>
            <a:pPr marL="0" indent="0">
              <a:buNone/>
            </a:pPr>
            <a:r>
              <a:rPr lang="en-US" b="1" dirty="0"/>
              <a:t>Success Criteria</a:t>
            </a:r>
            <a:endParaRPr lang="en-US" dirty="0"/>
          </a:p>
          <a:p>
            <a:r>
              <a:rPr lang="en-US" dirty="0"/>
              <a:t>Percentage operations match standard calculator behavior</a:t>
            </a:r>
          </a:p>
          <a:p>
            <a:r>
              <a:rPr lang="en-US" dirty="0"/>
              <a:t>Learner can articulate the interpretation rules for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489915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826-0DCA-B7B4-B285-BCFBD50B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3ADB7-3907-C6B6-40C0-E3BDE2F434BB}"/>
              </a:ext>
            </a:extLst>
          </p:cNvPr>
          <p:cNvSpPr>
            <a:spLocks noGrp="1"/>
          </p:cNvSpPr>
          <p:nvPr>
            <p:ph type="title"/>
          </p:nvPr>
        </p:nvSpPr>
        <p:spPr/>
        <p:txBody>
          <a:bodyPr>
            <a:noAutofit/>
          </a:bodyPr>
          <a:lstStyle/>
          <a:p>
            <a:r>
              <a:rPr lang="en-US" sz="2133" dirty="0"/>
              <a:t>Exercise: Calculator Project – Memory Functions (M+, M–, MR, MC) </a:t>
            </a:r>
          </a:p>
        </p:txBody>
      </p:sp>
      <p:sp>
        <p:nvSpPr>
          <p:cNvPr id="3" name="Content Placeholder 2">
            <a:extLst>
              <a:ext uri="{FF2B5EF4-FFF2-40B4-BE49-F238E27FC236}">
                <a16:creationId xmlns:a16="http://schemas.microsoft.com/office/drawing/2014/main" id="{328719DD-18A4-E8C5-2A3C-1B2A9E06ABAA}"/>
              </a:ext>
            </a:extLst>
          </p:cNvPr>
          <p:cNvSpPr>
            <a:spLocks noGrp="1"/>
          </p:cNvSpPr>
          <p:nvPr>
            <p:ph idx="1"/>
          </p:nvPr>
        </p:nvSpPr>
        <p:spPr/>
        <p:txBody>
          <a:bodyPr numCol="2">
            <a:normAutofit fontScale="85000" lnSpcReduction="20000"/>
          </a:bodyPr>
          <a:lstStyle/>
          <a:p>
            <a:pPr marL="0" indent="0">
              <a:buNone/>
            </a:pPr>
            <a:r>
              <a:rPr lang="en-US" b="1" dirty="0"/>
              <a:t>Duration: 18 minutes</a:t>
            </a:r>
            <a:endParaRPr lang="en-US" dirty="0"/>
          </a:p>
          <a:p>
            <a:pPr marL="0" indent="0">
              <a:buNone/>
            </a:pPr>
            <a:br>
              <a:rPr lang="en-US" b="1" dirty="0"/>
            </a:br>
            <a:r>
              <a:rPr lang="en-US" b="1" dirty="0"/>
              <a:t>Objectives</a:t>
            </a:r>
            <a:br>
              <a:rPr lang="en-US" dirty="0"/>
            </a:br>
            <a:endParaRPr lang="en-US" dirty="0"/>
          </a:p>
          <a:p>
            <a:pPr lvl="1"/>
            <a:r>
              <a:rPr lang="en-US" dirty="0"/>
              <a:t>Use AI to design a memory subsystem</a:t>
            </a:r>
          </a:p>
          <a:p>
            <a:pPr lvl="1"/>
            <a:r>
              <a:rPr lang="en-US" dirty="0"/>
              <a:t>Implement memory add, subtract, recall, and clear</a:t>
            </a:r>
          </a:p>
          <a:p>
            <a:pPr lvl="1"/>
            <a:r>
              <a:rPr lang="en-US" dirty="0"/>
              <a:t>Validate memory behavior across multiple operations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propose a memory‑state structure</a:t>
            </a:r>
          </a:p>
          <a:p>
            <a:pPr marL="609585" indent="-609585">
              <a:buAutoNum type="arabicPeriod"/>
            </a:pPr>
            <a:r>
              <a:rPr lang="en-US" dirty="0"/>
              <a:t>Generate functions for M+, M–, MR, MC</a:t>
            </a:r>
          </a:p>
          <a:p>
            <a:pPr marL="609585" indent="-609585">
              <a:buAutoNum type="arabicPeriod"/>
            </a:pPr>
            <a:r>
              <a:rPr lang="en-US" dirty="0"/>
              <a:t>Integrate memory operations into the calculator workflow</a:t>
            </a:r>
          </a:p>
          <a:p>
            <a:pPr marL="609585" indent="-609585">
              <a:buAutoNum type="arabicPeriod"/>
            </a:pPr>
            <a:r>
              <a:rPr lang="en-US" dirty="0"/>
              <a:t>Test memory persistence across multiple calculations</a:t>
            </a:r>
          </a:p>
          <a:p>
            <a:pPr marL="457189" lvl="1" indent="0">
              <a:buNone/>
            </a:pPr>
            <a:endParaRPr lang="en-US" dirty="0"/>
          </a:p>
          <a:p>
            <a:pPr marL="0" indent="0">
              <a:buNone/>
            </a:pPr>
            <a:r>
              <a:rPr lang="en-US" b="1" dirty="0"/>
              <a:t>Success Criteria</a:t>
            </a:r>
            <a:endParaRPr lang="en-US" dirty="0"/>
          </a:p>
          <a:p>
            <a:pPr lvl="1"/>
            <a:r>
              <a:rPr lang="en-US" dirty="0"/>
              <a:t>Memory functions behave as expected</a:t>
            </a:r>
          </a:p>
          <a:p>
            <a:pPr lvl="1"/>
            <a:r>
              <a:rPr lang="en-US" dirty="0"/>
              <a:t>Learner can explain how memory state is stored and updated</a:t>
            </a:r>
          </a:p>
          <a:p>
            <a:pPr marL="0" indent="0">
              <a:buNone/>
            </a:pPr>
            <a:endParaRPr lang="en-US" dirty="0"/>
          </a:p>
        </p:txBody>
      </p:sp>
    </p:spTree>
    <p:extLst>
      <p:ext uri="{BB962C8B-B14F-4D97-AF65-F5344CB8AC3E}">
        <p14:creationId xmlns:p14="http://schemas.microsoft.com/office/powerpoint/2010/main" val="2173541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430C-DF52-AD69-9203-044E2B64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C8F1A-8157-5790-E29E-F4E45CCAD653}"/>
              </a:ext>
            </a:extLst>
          </p:cNvPr>
          <p:cNvSpPr>
            <a:spLocks noGrp="1"/>
          </p:cNvSpPr>
          <p:nvPr>
            <p:ph type="title"/>
          </p:nvPr>
        </p:nvSpPr>
        <p:spPr/>
        <p:txBody>
          <a:bodyPr>
            <a:noAutofit/>
          </a:bodyPr>
          <a:lstStyle/>
          <a:p>
            <a:r>
              <a:rPr lang="en-US" sz="2400" dirty="0"/>
              <a:t>Exercise: Calculator Project – Error Handling</a:t>
            </a:r>
          </a:p>
        </p:txBody>
      </p:sp>
      <p:sp>
        <p:nvSpPr>
          <p:cNvPr id="3" name="Content Placeholder 2">
            <a:extLst>
              <a:ext uri="{FF2B5EF4-FFF2-40B4-BE49-F238E27FC236}">
                <a16:creationId xmlns:a16="http://schemas.microsoft.com/office/drawing/2014/main" id="{B67152FB-8C14-8EBD-E8E4-553CFC362784}"/>
              </a:ext>
            </a:extLst>
          </p:cNvPr>
          <p:cNvSpPr>
            <a:spLocks noGrp="1"/>
          </p:cNvSpPr>
          <p:nvPr>
            <p:ph idx="1"/>
          </p:nvPr>
        </p:nvSpPr>
        <p:spPr/>
        <p:txBody>
          <a:bodyPr numCol="2">
            <a:normAutofit fontScale="85000" lnSpcReduction="20000"/>
          </a:bodyPr>
          <a:lstStyle/>
          <a:p>
            <a:pPr marL="0" indent="0">
              <a:buNone/>
            </a:pPr>
            <a:r>
              <a:rPr lang="en-US" b="1" dirty="0"/>
              <a:t>Duration: 10 minutes</a:t>
            </a:r>
            <a:endParaRPr lang="en-US" dirty="0"/>
          </a:p>
          <a:p>
            <a:pPr marL="0" indent="0">
              <a:buNone/>
            </a:pPr>
            <a:br>
              <a:rPr lang="en-US" b="1" dirty="0"/>
            </a:br>
            <a:r>
              <a:rPr lang="en-US" b="1" dirty="0"/>
              <a:t>Objectives</a:t>
            </a:r>
            <a:br>
              <a:rPr lang="en-US" dirty="0"/>
            </a:br>
            <a:endParaRPr lang="en-US" dirty="0"/>
          </a:p>
          <a:p>
            <a:pPr lvl="1"/>
            <a:r>
              <a:rPr lang="en-US" dirty="0"/>
              <a:t>Use AI to identify common error conditions</a:t>
            </a:r>
          </a:p>
          <a:p>
            <a:pPr lvl="1"/>
            <a:r>
              <a:rPr lang="en-US" dirty="0"/>
              <a:t>Implement error messages and recovery logic</a:t>
            </a:r>
          </a:p>
          <a:p>
            <a:pPr lvl="1"/>
            <a:r>
              <a:rPr lang="en-US" dirty="0"/>
              <a:t>Ensure the calculator resets gracefully after errors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list typical calculator errors (e.g., divide by zero)</a:t>
            </a:r>
          </a:p>
          <a:p>
            <a:pPr marL="609585" indent="-609585">
              <a:buAutoNum type="arabicPeriod"/>
            </a:pPr>
            <a:r>
              <a:rPr lang="en-US" dirty="0"/>
              <a:t>Generate code for error detection and display</a:t>
            </a:r>
          </a:p>
          <a:p>
            <a:pPr marL="609585" indent="-609585">
              <a:buAutoNum type="arabicPeriod"/>
            </a:pPr>
            <a:r>
              <a:rPr lang="en-US" dirty="0"/>
              <a:t>Implement a reset path after an error</a:t>
            </a:r>
          </a:p>
          <a:p>
            <a:pPr marL="609585" indent="-609585">
              <a:buAutoNum type="arabicPeriod"/>
            </a:pPr>
            <a:r>
              <a:rPr lang="en-US" dirty="0"/>
              <a:t>Test error scenarios using AI‑generated test cases</a:t>
            </a:r>
          </a:p>
          <a:p>
            <a:pPr marL="457189" lvl="1" indent="0">
              <a:buNone/>
            </a:pPr>
            <a:endParaRPr lang="en-US" dirty="0"/>
          </a:p>
          <a:p>
            <a:r>
              <a:rPr lang="en-US" b="1" dirty="0"/>
              <a:t>Success Criteria</a:t>
            </a:r>
            <a:endParaRPr lang="en-US" dirty="0"/>
          </a:p>
          <a:p>
            <a:pPr lvl="1"/>
            <a:r>
              <a:rPr lang="en-US" dirty="0"/>
              <a:t>Errors are detected and displayed correctly</a:t>
            </a:r>
          </a:p>
          <a:p>
            <a:pPr lvl="1"/>
            <a:r>
              <a:rPr lang="en-US" dirty="0"/>
              <a:t>Calculator recovers cleanly after reset</a:t>
            </a:r>
          </a:p>
          <a:p>
            <a:pPr lvl="1"/>
            <a:r>
              <a:rPr lang="en-US" dirty="0"/>
              <a:t>Learner can describe the error‑handling flow</a:t>
            </a:r>
          </a:p>
          <a:p>
            <a:pPr lvl="1"/>
            <a:endParaRPr lang="en-US" dirty="0"/>
          </a:p>
          <a:p>
            <a:pPr marL="0" indent="0">
              <a:buNone/>
            </a:pPr>
            <a:endParaRPr lang="en-US" dirty="0"/>
          </a:p>
        </p:txBody>
      </p:sp>
    </p:spTree>
    <p:extLst>
      <p:ext uri="{BB962C8B-B14F-4D97-AF65-F5344CB8AC3E}">
        <p14:creationId xmlns:p14="http://schemas.microsoft.com/office/powerpoint/2010/main" val="445129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07D7-96D7-6DFB-9862-570F8D7D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FBCD-8460-327A-453B-23ED964EE34F}"/>
              </a:ext>
            </a:extLst>
          </p:cNvPr>
          <p:cNvSpPr>
            <a:spLocks noGrp="1"/>
          </p:cNvSpPr>
          <p:nvPr>
            <p:ph type="title"/>
          </p:nvPr>
        </p:nvSpPr>
        <p:spPr/>
        <p:txBody>
          <a:bodyPr>
            <a:noAutofit/>
          </a:bodyPr>
          <a:lstStyle/>
          <a:p>
            <a:r>
              <a:rPr lang="en-US" sz="2400" dirty="0"/>
              <a:t>Exercise: Calculator Project – Add Trigonometric Functions </a:t>
            </a:r>
          </a:p>
        </p:txBody>
      </p:sp>
      <p:sp>
        <p:nvSpPr>
          <p:cNvPr id="3" name="Content Placeholder 2">
            <a:extLst>
              <a:ext uri="{FF2B5EF4-FFF2-40B4-BE49-F238E27FC236}">
                <a16:creationId xmlns:a16="http://schemas.microsoft.com/office/drawing/2014/main" id="{27F32117-34FF-0A09-5AA2-44249A520062}"/>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Integrate trigonometric functions into the calculator’s operation set</a:t>
            </a:r>
          </a:p>
          <a:p>
            <a:pPr lvl="1"/>
            <a:r>
              <a:rPr lang="en-US" dirty="0"/>
              <a:t>Use AI to generate math‑library wrappers and input‑parsing logic</a:t>
            </a:r>
          </a:p>
          <a:p>
            <a:pPr lvl="1"/>
            <a:r>
              <a:rPr lang="en-US" dirty="0"/>
              <a:t>Ensure correct handling of degrees vs. radians</a:t>
            </a:r>
          </a:p>
          <a:p>
            <a:pPr marL="0" indent="0">
              <a:buNone/>
            </a:pPr>
            <a:br>
              <a:rPr lang="en-US" dirty="0"/>
            </a:br>
            <a:r>
              <a:rPr lang="en-US" b="1" dirty="0"/>
              <a:t>Activities</a:t>
            </a:r>
            <a:br>
              <a:rPr lang="en-US" dirty="0"/>
            </a:br>
            <a:endParaRPr lang="en-US" dirty="0"/>
          </a:p>
          <a:p>
            <a:pPr marL="609585" indent="-609585">
              <a:buAutoNum type="arabicPeriod"/>
            </a:pPr>
            <a:r>
              <a:rPr lang="en-US" dirty="0"/>
              <a:t>Ask AI to generate functions for sin, cos, and tan using your language’s math library</a:t>
            </a:r>
          </a:p>
          <a:p>
            <a:pPr marL="609585" indent="-609585">
              <a:buAutoNum type="arabicPeriod"/>
            </a:pPr>
            <a:r>
              <a:rPr lang="en-US" dirty="0"/>
              <a:t>Prompt AI to propose a strategy for handling degree/radian mode</a:t>
            </a:r>
          </a:p>
          <a:p>
            <a:pPr marL="609585" indent="-609585">
              <a:buAutoNum type="arabicPeriod"/>
            </a:pPr>
            <a:r>
              <a:rPr lang="en-US" dirty="0"/>
              <a:t>Implement UI bindings or command triggers for each trig function</a:t>
            </a:r>
          </a:p>
          <a:p>
            <a:pPr marL="609585" indent="-609585">
              <a:buAutoNum type="arabicPeriod"/>
            </a:pPr>
            <a:r>
              <a:rPr lang="en-US" dirty="0"/>
              <a:t>Use AI to generate a table of sample inputs and expected outputs</a:t>
            </a:r>
          </a:p>
          <a:p>
            <a:pPr marL="457189" lvl="1" indent="0">
              <a:buNone/>
            </a:pPr>
            <a:endParaRPr lang="en-US" dirty="0"/>
          </a:p>
          <a:p>
            <a:pPr marL="0" indent="0">
              <a:buNone/>
            </a:pPr>
            <a:r>
              <a:rPr lang="en-US" b="1" dirty="0"/>
              <a:t>Success Criteria</a:t>
            </a:r>
            <a:endParaRPr lang="en-US" dirty="0"/>
          </a:p>
          <a:p>
            <a:pPr lvl="1"/>
            <a:r>
              <a:rPr lang="en-US" dirty="0"/>
              <a:t>Trig functions compute correct values in the selected angle mode</a:t>
            </a:r>
          </a:p>
          <a:p>
            <a:pPr lvl="1"/>
            <a:r>
              <a:rPr lang="en-US" dirty="0"/>
              <a:t>Degree/radian mode switching works consistently</a:t>
            </a:r>
          </a:p>
          <a:p>
            <a:pPr lvl="1"/>
            <a:r>
              <a:rPr lang="en-US" dirty="0"/>
              <a:t>UI or command triggers correctly call the trig functions</a:t>
            </a:r>
          </a:p>
          <a:p>
            <a:pPr lvl="1"/>
            <a:r>
              <a:rPr lang="en-US" dirty="0"/>
              <a:t>Learner can explain how AI‑generated code was validated and refine</a:t>
            </a:r>
          </a:p>
          <a:p>
            <a:pPr marL="0" indent="0">
              <a:buNone/>
            </a:pPr>
            <a:endParaRPr lang="en-US" dirty="0"/>
          </a:p>
        </p:txBody>
      </p:sp>
    </p:spTree>
    <p:extLst>
      <p:ext uri="{BB962C8B-B14F-4D97-AF65-F5344CB8AC3E}">
        <p14:creationId xmlns:p14="http://schemas.microsoft.com/office/powerpoint/2010/main" val="18998824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94C3-5522-167B-1824-6B752E641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45ABD-9F11-7EE1-B9D7-9F50030AFE16}"/>
              </a:ext>
            </a:extLst>
          </p:cNvPr>
          <p:cNvSpPr>
            <a:spLocks noGrp="1"/>
          </p:cNvSpPr>
          <p:nvPr>
            <p:ph type="title"/>
          </p:nvPr>
        </p:nvSpPr>
        <p:spPr/>
        <p:txBody>
          <a:bodyPr>
            <a:noAutofit/>
          </a:bodyPr>
          <a:lstStyle/>
          <a:p>
            <a:r>
              <a:rPr lang="en-US" sz="2400" dirty="0"/>
              <a:t>Exercise: Calculator Project – UI </a:t>
            </a:r>
          </a:p>
        </p:txBody>
      </p:sp>
      <p:sp>
        <p:nvSpPr>
          <p:cNvPr id="3" name="Content Placeholder 2">
            <a:extLst>
              <a:ext uri="{FF2B5EF4-FFF2-40B4-BE49-F238E27FC236}">
                <a16:creationId xmlns:a16="http://schemas.microsoft.com/office/drawing/2014/main" id="{C25F63E1-4A8C-9B09-D04E-04B7EADD6182}"/>
              </a:ext>
            </a:extLst>
          </p:cNvPr>
          <p:cNvSpPr>
            <a:spLocks noGrp="1"/>
          </p:cNvSpPr>
          <p:nvPr>
            <p:ph idx="1"/>
          </p:nvPr>
        </p:nvSpPr>
        <p:spPr/>
        <p:txBody>
          <a:bodyPr numCol="2">
            <a:normAutofit fontScale="85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scaffold UI event handlers</a:t>
            </a:r>
          </a:p>
          <a:p>
            <a:pPr lvl="1"/>
            <a:r>
              <a:rPr lang="en-US" dirty="0"/>
              <a:t>Connect buttons to logic functions</a:t>
            </a:r>
          </a:p>
          <a:p>
            <a:pPr lvl="1"/>
            <a:r>
              <a:rPr lang="en-US" dirty="0"/>
              <a:t>Validate end‑to‑end user workflow</a:t>
            </a:r>
          </a:p>
          <a:p>
            <a:pPr marL="0" indent="0">
              <a:buNone/>
            </a:pPr>
            <a:br>
              <a:rPr lang="en-US" dirty="0"/>
            </a:br>
            <a:r>
              <a:rPr lang="en-US" b="1" dirty="0"/>
              <a:t>Activities</a:t>
            </a:r>
            <a:br>
              <a:rPr lang="en-US" dirty="0"/>
            </a:br>
            <a:endParaRPr lang="en-US" dirty="0"/>
          </a:p>
          <a:p>
            <a:pPr marL="609585" indent="-609585">
              <a:buAutoNum type="arabicPeriod"/>
            </a:pPr>
            <a:r>
              <a:rPr lang="en-US" dirty="0"/>
              <a:t>Ask AI to generate event‑binding code for numeric and operator buttons</a:t>
            </a:r>
          </a:p>
          <a:p>
            <a:pPr marL="609585" indent="-609585">
              <a:buAutoNum type="arabicPeriod"/>
            </a:pPr>
            <a:r>
              <a:rPr lang="en-US" dirty="0"/>
              <a:t>Integrate logic functions from previous labs</a:t>
            </a:r>
          </a:p>
          <a:p>
            <a:pPr marL="609585" indent="-609585">
              <a:buAutoNum type="arabicPeriod"/>
            </a:pPr>
            <a:r>
              <a:rPr lang="en-US" dirty="0"/>
              <a:t>Test a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pPr marL="457189" lvl="1" indent="0">
              <a:buNone/>
            </a:pPr>
            <a:endParaRPr lang="en-US" dirty="0"/>
          </a:p>
          <a:p>
            <a:pPr marL="0" indent="0">
              <a:buNone/>
            </a:pPr>
            <a:r>
              <a:rPr lang="en-US" b="1" dirty="0"/>
              <a:t>Success Criteria</a:t>
            </a:r>
            <a:endParaRPr lang="en-US" dirty="0"/>
          </a:p>
          <a:p>
            <a:pPr lvl="1"/>
            <a:r>
              <a:rPr lang="en-US" dirty="0"/>
              <a:t>UI correctly triggers all calculator functions</a:t>
            </a:r>
          </a:p>
          <a:p>
            <a:pPr lvl="1"/>
            <a:r>
              <a:rPr lang="en-US" dirty="0"/>
              <a:t>Full workflow completes without errors</a:t>
            </a:r>
          </a:p>
          <a:p>
            <a:pPr lvl="1"/>
            <a:r>
              <a:rPr lang="en-US" dirty="0"/>
              <a:t>Learner can explain how UI events map to logic functions</a:t>
            </a:r>
          </a:p>
          <a:p>
            <a:pPr marL="0" indent="0">
              <a:buNone/>
            </a:pPr>
            <a:endParaRPr lang="en-US" dirty="0"/>
          </a:p>
        </p:txBody>
      </p:sp>
    </p:spTree>
    <p:extLst>
      <p:ext uri="{BB962C8B-B14F-4D97-AF65-F5344CB8AC3E}">
        <p14:creationId xmlns:p14="http://schemas.microsoft.com/office/powerpoint/2010/main" val="1968881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F4DA-D2F8-4B60-9DE3-301DB8D6794A}"/>
              </a:ext>
            </a:extLst>
          </p:cNvPr>
          <p:cNvSpPr>
            <a:spLocks noGrp="1"/>
          </p:cNvSpPr>
          <p:nvPr>
            <p:ph type="title"/>
          </p:nvPr>
        </p:nvSpPr>
        <p:spPr/>
        <p:txBody>
          <a:bodyPr>
            <a:noAutofit/>
          </a:bodyPr>
          <a:lstStyle/>
          <a:p>
            <a:r>
              <a:rPr lang="en-US" sz="3733" dirty="0"/>
              <a:t>Exercise: Calculator Project - Testing</a:t>
            </a:r>
          </a:p>
        </p:txBody>
      </p:sp>
      <p:sp>
        <p:nvSpPr>
          <p:cNvPr id="3" name="Content Placeholder 2">
            <a:extLst>
              <a:ext uri="{FF2B5EF4-FFF2-40B4-BE49-F238E27FC236}">
                <a16:creationId xmlns:a16="http://schemas.microsoft.com/office/drawing/2014/main" id="{7B7DCA1F-EBDC-7D8A-2582-15B2BE8B5E58}"/>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45-60 minutes</a:t>
            </a:r>
            <a:br>
              <a:rPr lang="en-US" dirty="0"/>
            </a:br>
            <a:endParaRPr lang="en-US" dirty="0"/>
          </a:p>
          <a:p>
            <a:pPr marL="0" indent="0">
              <a:buNone/>
            </a:pPr>
            <a:r>
              <a:rPr lang="en-US" b="1" dirty="0"/>
              <a:t>Objectives</a:t>
            </a:r>
            <a:br>
              <a:rPr lang="en-US" dirty="0"/>
            </a:br>
            <a:endParaRPr lang="en-US" dirty="0"/>
          </a:p>
          <a:p>
            <a:pPr lvl="1"/>
            <a:r>
              <a:rPr lang="en-US" dirty="0"/>
              <a:t>Generate unit tests with AI assistance</a:t>
            </a:r>
          </a:p>
          <a:p>
            <a:pPr lvl="1"/>
            <a:r>
              <a:rPr lang="en-US" dirty="0"/>
              <a:t>Identify quality issues in generated tests</a:t>
            </a:r>
          </a:p>
          <a:p>
            <a:pPr lvl="1"/>
            <a:r>
              <a:rPr lang="en-US" dirty="0"/>
              <a:t>Understand the importance of reviewing AI-generated tests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Generate Initial Tests:</a:t>
            </a:r>
            <a:br>
              <a:rPr lang="en-US" dirty="0"/>
            </a:br>
            <a:endParaRPr lang="en-US" dirty="0"/>
          </a:p>
          <a:p>
            <a:pPr lvl="1"/>
            <a:r>
              <a:rPr lang="en-US" dirty="0"/>
              <a:t>Prompt: "Create unit tests for the calculator operations"</a:t>
            </a:r>
          </a:p>
          <a:p>
            <a:pPr lvl="1"/>
            <a:r>
              <a:rPr lang="en-US" dirty="0"/>
              <a:t>Review generated test structure</a:t>
            </a:r>
          </a:p>
          <a:p>
            <a:pPr lvl="1"/>
            <a:r>
              <a:rPr lang="en-US" b="1" dirty="0"/>
              <a:t>Critical Review:</a:t>
            </a:r>
            <a:r>
              <a:rPr lang="en-US" dirty="0"/>
              <a:t> Are tests calling your calculator code?</a:t>
            </a:r>
            <a:br>
              <a:rPr lang="en-US" dirty="0"/>
            </a:br>
            <a:endParaRPr lang="en-US" dirty="0"/>
          </a:p>
          <a:p>
            <a:pPr marL="0" indent="0">
              <a:buNone/>
            </a:pPr>
            <a:r>
              <a:rPr lang="en-US" dirty="0"/>
              <a:t>2. </a:t>
            </a:r>
            <a:r>
              <a:rPr lang="en-US" b="1" dirty="0"/>
              <a:t>Fix Test Issues (Replicating Session Demo):</a:t>
            </a:r>
            <a:br>
              <a:rPr lang="en-US" dirty="0"/>
            </a:br>
            <a:endParaRPr lang="en-US" dirty="0"/>
          </a:p>
          <a:p>
            <a:pPr lvl="1"/>
            <a:r>
              <a:rPr lang="en-US" dirty="0"/>
              <a:t>If tests are too simple (like `1 + 1 = 2` without calling calculator):</a:t>
            </a:r>
          </a:p>
          <a:p>
            <a:pPr lvl="1"/>
            <a:r>
              <a:rPr lang="en-US" dirty="0"/>
              <a:t>Identify the problem</a:t>
            </a:r>
          </a:p>
          <a:p>
            <a:pPr lvl="1"/>
            <a:r>
              <a:rPr lang="en-US" dirty="0"/>
              <a:t>Ask Copilot to fix it: "Update tests to call Calculator class methods"</a:t>
            </a:r>
          </a:p>
          <a:p>
            <a:pPr lvl="1"/>
            <a:r>
              <a:rPr lang="en-US" dirty="0"/>
              <a:t>Verify tests now test actual implementation</a:t>
            </a:r>
            <a:br>
              <a:rPr lang="en-US" dirty="0"/>
            </a:br>
            <a:endParaRPr lang="en-US" dirty="0"/>
          </a:p>
          <a:p>
            <a:pPr marL="0" indent="0">
              <a:buNone/>
            </a:pPr>
            <a:r>
              <a:rPr lang="en-US" dirty="0"/>
              <a:t>3. </a:t>
            </a:r>
            <a:r>
              <a:rPr lang="en-US" b="1" dirty="0"/>
              <a:t>Run Tests:</a:t>
            </a:r>
            <a:br>
              <a:rPr lang="en-US" dirty="0"/>
            </a:br>
            <a:endParaRPr lang="en-US" dirty="0"/>
          </a:p>
          <a:p>
            <a:pPr lvl="1"/>
            <a:r>
              <a:rPr lang="en-US" dirty="0"/>
              <a:t>Execute test suite</a:t>
            </a:r>
          </a:p>
          <a:p>
            <a:pPr lvl="1"/>
            <a:r>
              <a:rPr lang="en-US" dirty="0"/>
              <a:t>Review test output</a:t>
            </a:r>
          </a:p>
          <a:p>
            <a:pPr lvl="1"/>
            <a:r>
              <a:rPr lang="en-US" dirty="0"/>
              <a:t>Debug any failing tests with Copilot's help</a:t>
            </a:r>
          </a:p>
          <a:p>
            <a:pPr marL="0" indent="0">
              <a:buNone/>
            </a:pPr>
            <a:r>
              <a:rPr lang="en-US" dirty="0"/>
              <a:t>4. </a:t>
            </a:r>
            <a:r>
              <a:rPr lang="en-US" b="1" dirty="0"/>
              <a:t>Add Edge Cases:</a:t>
            </a:r>
            <a:endParaRPr lang="en-US" dirty="0"/>
          </a:p>
          <a:p>
            <a:pPr lvl="1"/>
            <a:r>
              <a:rPr lang="en-US" dirty="0"/>
              <a:t>Prompt: "Add tests for edge cases like division by zero"</a:t>
            </a:r>
          </a:p>
          <a:p>
            <a:pPr lvl="1"/>
            <a:r>
              <a:rPr lang="en-US" dirty="0"/>
              <a:t>Verify exception handling tests are correct</a:t>
            </a:r>
            <a:br>
              <a:rPr lang="en-US" dirty="0"/>
            </a:br>
            <a:endParaRPr lang="en-US" dirty="0"/>
          </a:p>
          <a:p>
            <a:pPr marL="0" indent="0">
              <a:buNone/>
            </a:pPr>
            <a:r>
              <a:rPr lang="en-US" b="1" dirty="0"/>
              <a:t>Success Criteria</a:t>
            </a:r>
            <a:br>
              <a:rPr lang="en-US" dirty="0"/>
            </a:br>
            <a:endParaRPr lang="en-US" dirty="0"/>
          </a:p>
          <a:p>
            <a:pPr lvl="1"/>
            <a:r>
              <a:rPr lang="en-US" dirty="0"/>
              <a:t>Test suite with minimum 8 test cases</a:t>
            </a:r>
          </a:p>
          <a:p>
            <a:pPr lvl="1"/>
            <a:r>
              <a:rPr lang="en-US" dirty="0"/>
              <a:t>All tests call actual calculator methods (not just language arithmetic)</a:t>
            </a:r>
          </a:p>
          <a:p>
            <a:pPr lvl="1"/>
            <a:r>
              <a:rPr lang="en-US" dirty="0"/>
              <a:t>Tests include edge cases and error conditions</a:t>
            </a:r>
          </a:p>
          <a:p>
            <a:pPr lvl="1"/>
            <a:r>
              <a:rPr lang="en-US" dirty="0"/>
              <a:t>All tests pass</a:t>
            </a:r>
            <a:br>
              <a:rPr lang="en-US" dirty="0"/>
            </a:br>
            <a:endParaRPr lang="en-US" dirty="0"/>
          </a:p>
        </p:txBody>
      </p:sp>
    </p:spTree>
    <p:extLst>
      <p:ext uri="{BB962C8B-B14F-4D97-AF65-F5344CB8AC3E}">
        <p14:creationId xmlns:p14="http://schemas.microsoft.com/office/powerpoint/2010/main" val="3520810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DD32-5416-0192-2BE8-652D8E449EAB}"/>
              </a:ext>
            </a:extLst>
          </p:cNvPr>
          <p:cNvSpPr>
            <a:spLocks noGrp="1"/>
          </p:cNvSpPr>
          <p:nvPr>
            <p:ph type="title"/>
          </p:nvPr>
        </p:nvSpPr>
        <p:spPr/>
        <p:txBody>
          <a:bodyPr>
            <a:normAutofit/>
          </a:bodyPr>
          <a:lstStyle/>
          <a:p>
            <a:r>
              <a:rPr lang="en-US" b="0" dirty="0"/>
              <a:t>Exercise: Code Coverage</a:t>
            </a:r>
          </a:p>
        </p:txBody>
      </p:sp>
      <p:sp>
        <p:nvSpPr>
          <p:cNvPr id="3" name="Content Placeholder 2">
            <a:extLst>
              <a:ext uri="{FF2B5EF4-FFF2-40B4-BE49-F238E27FC236}">
                <a16:creationId xmlns:a16="http://schemas.microsoft.com/office/drawing/2014/main" id="{13D595A6-0F81-9AB3-F4B8-F6F0EDD923EF}"/>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30-40 minutes</a:t>
            </a:r>
          </a:p>
          <a:p>
            <a:pPr marL="0" indent="0">
              <a:buNone/>
            </a:pPr>
            <a:r>
              <a:rPr lang="en-US" b="1" dirty="0"/>
              <a:t>Objectives</a:t>
            </a:r>
            <a:br>
              <a:rPr lang="en-US" dirty="0"/>
            </a:br>
            <a:endParaRPr lang="en-US" dirty="0"/>
          </a:p>
          <a:p>
            <a:pPr lvl="1"/>
            <a:r>
              <a:rPr lang="en-US" dirty="0"/>
              <a:t>Set up code coverage reporting</a:t>
            </a:r>
          </a:p>
          <a:p>
            <a:pPr lvl="1"/>
            <a:r>
              <a:rPr lang="en-US" dirty="0"/>
              <a:t>Interpret coverage results</a:t>
            </a:r>
          </a:p>
          <a:p>
            <a:pPr lvl="1"/>
            <a:r>
              <a:rPr lang="en-US" dirty="0"/>
              <a:t>Improve test coverage based on gaps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Enable Coverage Collection:</a:t>
            </a:r>
            <a:br>
              <a:rPr lang="en-US" dirty="0"/>
            </a:br>
            <a:endParaRPr lang="en-US" dirty="0"/>
          </a:p>
          <a:p>
            <a:pPr lvl="1"/>
            <a:r>
              <a:rPr lang="en-US" dirty="0"/>
              <a:t>Prompt: "Add code coverage reporting to my test project"</a:t>
            </a:r>
          </a:p>
          <a:p>
            <a:pPr lvl="1"/>
            <a:r>
              <a:rPr lang="en-US" dirty="0"/>
              <a:t>Review package dependencies added</a:t>
            </a:r>
          </a:p>
          <a:p>
            <a:pPr lvl="1"/>
            <a:r>
              <a:rPr lang="en-US" dirty="0"/>
              <a:t>Handle any NuGet/dependency issues with Copilot's help</a:t>
            </a:r>
            <a:br>
              <a:rPr lang="en-US" dirty="0"/>
            </a:br>
            <a:endParaRPr lang="en-US" dirty="0"/>
          </a:p>
          <a:p>
            <a:pPr marL="0" indent="0">
              <a:buNone/>
            </a:pPr>
            <a:r>
              <a:rPr lang="en-US" dirty="0"/>
              <a:t>2. </a:t>
            </a:r>
            <a:r>
              <a:rPr lang="en-US" b="1" dirty="0"/>
              <a:t>Generate Coverage Report:</a:t>
            </a:r>
            <a:br>
              <a:rPr lang="en-US" dirty="0"/>
            </a:br>
            <a:endParaRPr lang="en-US" dirty="0"/>
          </a:p>
          <a:p>
            <a:pPr lvl="1"/>
            <a:r>
              <a:rPr lang="en-US" dirty="0"/>
              <a:t>Run tests with coverage enabled</a:t>
            </a:r>
          </a:p>
          <a:p>
            <a:pPr lvl="1"/>
            <a:r>
              <a:rPr lang="en-US" dirty="0"/>
              <a:t>Review coverage percentage</a:t>
            </a:r>
          </a:p>
          <a:p>
            <a:pPr lvl="1"/>
            <a:r>
              <a:rPr lang="en-US" dirty="0"/>
              <a:t>Identify uncovered code paths</a:t>
            </a:r>
            <a:br>
              <a:rPr lang="en-US" dirty="0"/>
            </a:br>
            <a:endParaRPr lang="en-US" dirty="0"/>
          </a:p>
          <a:p>
            <a:pPr marL="0" indent="0">
              <a:buNone/>
            </a:pPr>
            <a:r>
              <a:rPr lang="en-US" dirty="0"/>
              <a:t>3. </a:t>
            </a:r>
            <a:r>
              <a:rPr lang="en-US" b="1" dirty="0"/>
              <a:t>Improve Coverage:</a:t>
            </a:r>
            <a:br>
              <a:rPr lang="en-US" b="1" dirty="0"/>
            </a:br>
            <a:endParaRPr lang="en-US" dirty="0"/>
          </a:p>
          <a:p>
            <a:pPr lvl="1"/>
            <a:r>
              <a:rPr lang="en-US" dirty="0"/>
              <a:t>Add tests for uncovered methods</a:t>
            </a:r>
          </a:p>
          <a:p>
            <a:pPr lvl="1"/>
            <a:r>
              <a:rPr lang="en-US" dirty="0"/>
              <a:t>Re-run coverage to verify improvement</a:t>
            </a:r>
          </a:p>
          <a:p>
            <a:pPr lvl="1"/>
            <a:r>
              <a:rPr lang="en-US" dirty="0"/>
              <a:t>Discuss: Is 100% coverage always necessary?</a:t>
            </a:r>
            <a:br>
              <a:rPr lang="en-US" dirty="0"/>
            </a:br>
            <a:endParaRPr lang="en-US" dirty="0"/>
          </a:p>
          <a:p>
            <a:pPr marL="0" indent="0">
              <a:buNone/>
            </a:pPr>
            <a:r>
              <a:rPr lang="en-US" b="1" dirty="0"/>
              <a:t>Success Criteria</a:t>
            </a:r>
            <a:br>
              <a:rPr lang="en-US" dirty="0"/>
            </a:br>
            <a:endParaRPr lang="en-US" dirty="0"/>
          </a:p>
          <a:p>
            <a:pPr lvl="1"/>
            <a:r>
              <a:rPr lang="en-US" dirty="0"/>
              <a:t>Code coverage reporting successfully configured</a:t>
            </a:r>
          </a:p>
          <a:p>
            <a:pPr lvl="1"/>
            <a:r>
              <a:rPr lang="en-US" dirty="0"/>
              <a:t>Can generate and read coverage reports</a:t>
            </a:r>
          </a:p>
          <a:p>
            <a:pPr lvl="1"/>
            <a:r>
              <a:rPr lang="en-US" dirty="0"/>
              <a:t>Achieved reasonable coverage (&gt;80% line coverage)</a:t>
            </a:r>
          </a:p>
          <a:p>
            <a:pPr lvl="1"/>
            <a:r>
              <a:rPr lang="en-US" dirty="0"/>
              <a:t>Understand what coverage metrics mean</a:t>
            </a:r>
            <a:br>
              <a:rPr lang="en-US" dirty="0"/>
            </a:br>
            <a:endParaRPr lang="en-US" dirty="0"/>
          </a:p>
          <a:p>
            <a:pPr marL="0" indent="0">
              <a:buNone/>
            </a:pPr>
            <a:r>
              <a:rPr lang="en-US" b="1" dirty="0"/>
              <a:t>Discussion Points</a:t>
            </a:r>
            <a:br>
              <a:rPr lang="en-US" dirty="0"/>
            </a:br>
            <a:endParaRPr lang="en-US" dirty="0"/>
          </a:p>
          <a:p>
            <a:pPr lvl="1"/>
            <a:r>
              <a:rPr lang="en-US" dirty="0"/>
              <a:t>Feature coverage vs. code coverage (as raised by Tom in the session)</a:t>
            </a:r>
          </a:p>
          <a:p>
            <a:pPr lvl="1"/>
            <a:r>
              <a:rPr lang="en-US" dirty="0"/>
              <a:t>When is test coverage sufficient?</a:t>
            </a:r>
          </a:p>
          <a:p>
            <a:pPr lvl="1"/>
            <a:r>
              <a:rPr lang="en-US" dirty="0"/>
              <a:t>Quality of tests vs. quantity</a:t>
            </a:r>
          </a:p>
        </p:txBody>
      </p:sp>
    </p:spTree>
    <p:extLst>
      <p:ext uri="{BB962C8B-B14F-4D97-AF65-F5344CB8AC3E}">
        <p14:creationId xmlns:p14="http://schemas.microsoft.com/office/powerpoint/2010/main" val="3773342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C8B-D3E3-71D7-A402-CA01FF5C0C63}"/>
              </a:ext>
            </a:extLst>
          </p:cNvPr>
          <p:cNvSpPr>
            <a:spLocks noGrp="1"/>
          </p:cNvSpPr>
          <p:nvPr>
            <p:ph type="title"/>
          </p:nvPr>
        </p:nvSpPr>
        <p:spPr/>
        <p:txBody>
          <a:bodyPr>
            <a:noAutofit/>
          </a:bodyPr>
          <a:lstStyle/>
          <a:p>
            <a:r>
              <a:rPr lang="en-US" sz="2400" dirty="0"/>
              <a:t>Exercise: Dependency Management &amp; Troubleshooting</a:t>
            </a:r>
          </a:p>
        </p:txBody>
      </p:sp>
      <p:sp>
        <p:nvSpPr>
          <p:cNvPr id="3" name="Content Placeholder 2">
            <a:extLst>
              <a:ext uri="{FF2B5EF4-FFF2-40B4-BE49-F238E27FC236}">
                <a16:creationId xmlns:a16="http://schemas.microsoft.com/office/drawing/2014/main" id="{5AB9ABBA-D52B-ABC8-3782-CACA185F2E8C}"/>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Use Copilot to resolve dependency issues</a:t>
            </a:r>
          </a:p>
          <a:p>
            <a:pPr lvl="1"/>
            <a:r>
              <a:rPr lang="en-US" dirty="0"/>
              <a:t>Handle package restoration problems</a:t>
            </a:r>
          </a:p>
          <a:p>
            <a:pPr lvl="1"/>
            <a:r>
              <a:rPr lang="en-US" dirty="0"/>
              <a:t>Practice iterative problem-solving with AI</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Simulate or Identify a Dependency Issue:</a:t>
            </a:r>
            <a:br>
              <a:rPr lang="en-US" dirty="0"/>
            </a:br>
            <a:endParaRPr lang="en-US" dirty="0"/>
          </a:p>
          <a:p>
            <a:pPr lvl="1"/>
            <a:r>
              <a:rPr lang="en-US" dirty="0"/>
              <a:t>Introduce a version conflict (or use existing issue)</a:t>
            </a:r>
          </a:p>
          <a:p>
            <a:pPr lvl="1"/>
            <a:r>
              <a:rPr lang="en-US" dirty="0"/>
              <a:t>Prompt: "I'm getting [specific error]. How do I fix it?"</a:t>
            </a:r>
            <a:br>
              <a:rPr lang="en-US" dirty="0"/>
            </a:br>
            <a:endParaRPr lang="en-US" dirty="0"/>
          </a:p>
          <a:p>
            <a:pPr marL="0" indent="0">
              <a:buNone/>
            </a:pPr>
            <a:r>
              <a:rPr lang="en-US" dirty="0"/>
              <a:t>2. </a:t>
            </a:r>
            <a:r>
              <a:rPr lang="en-US" b="1" dirty="0"/>
              <a:t>Follow Copilot's Guidance:</a:t>
            </a:r>
            <a:br>
              <a:rPr lang="en-US" dirty="0"/>
            </a:br>
            <a:endParaRPr lang="en-US" dirty="0"/>
          </a:p>
          <a:p>
            <a:pPr lvl="1"/>
            <a:r>
              <a:rPr lang="en-US" dirty="0"/>
              <a:t>Review suggested solutions</a:t>
            </a:r>
          </a:p>
          <a:p>
            <a:pPr lvl="1"/>
            <a:r>
              <a:rPr lang="en-US" dirty="0"/>
              <a:t>Evaluate multiple approaches if offered</a:t>
            </a:r>
          </a:p>
          <a:p>
            <a:pPr lvl="1"/>
            <a:r>
              <a:rPr lang="en-US" dirty="0"/>
              <a:t>Choose best solution collaboratively</a:t>
            </a:r>
            <a:br>
              <a:rPr lang="en-US" dirty="0"/>
            </a:br>
            <a:endParaRPr lang="en-US" dirty="0"/>
          </a:p>
          <a:p>
            <a:pPr marL="0" indent="0">
              <a:buNone/>
            </a:pPr>
            <a:r>
              <a:rPr lang="en-US" dirty="0"/>
              <a:t>3. </a:t>
            </a:r>
            <a:r>
              <a:rPr lang="en-US" b="1" dirty="0"/>
              <a:t>Iterative Resolution:</a:t>
            </a:r>
            <a:br>
              <a:rPr lang="en-US" dirty="0"/>
            </a:br>
            <a:endParaRPr lang="en-US" dirty="0"/>
          </a:p>
          <a:p>
            <a:pPr lvl="1"/>
            <a:r>
              <a:rPr lang="en-US" dirty="0"/>
              <a:t>If first solution doesn't work, provide error details</a:t>
            </a:r>
          </a:p>
          <a:p>
            <a:pPr lvl="1"/>
            <a:r>
              <a:rPr lang="en-US" dirty="0"/>
              <a:t>Continue conversation until resolved</a:t>
            </a:r>
            <a:br>
              <a:rPr lang="en-US" dirty="0"/>
            </a:br>
            <a:endParaRPr lang="en-US" dirty="0"/>
          </a:p>
          <a:p>
            <a:pPr marL="0" indent="0">
              <a:buNone/>
            </a:pPr>
            <a:r>
              <a:rPr lang="en-US" dirty="0"/>
              <a:t>4. </a:t>
            </a:r>
            <a:r>
              <a:rPr lang="en-US" b="1" dirty="0"/>
              <a:t>Common Issues to Practice:</a:t>
            </a:r>
            <a:br>
              <a:rPr lang="en-US" b="1" dirty="0"/>
            </a:br>
            <a:endParaRPr lang="en-US" dirty="0"/>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br>
              <a:rPr lang="en-US" dirty="0"/>
            </a:br>
            <a:endParaRPr lang="en-US" dirty="0"/>
          </a:p>
          <a:p>
            <a:pPr marL="0" indent="0">
              <a:buNone/>
            </a:pPr>
            <a:r>
              <a:rPr lang="en-US" b="1" dirty="0"/>
              <a:t>Success Criteria</a:t>
            </a:r>
            <a:br>
              <a:rPr lang="en-US" dirty="0"/>
            </a:br>
            <a:endParaRPr lang="en-US" dirty="0"/>
          </a:p>
          <a:p>
            <a:pPr lvl="1"/>
            <a:r>
              <a:rPr lang="en-US" dirty="0"/>
              <a:t>Successfully resolved at least one dependency issue</a:t>
            </a:r>
          </a:p>
          <a:p>
            <a:pPr lvl="1"/>
            <a:r>
              <a:rPr lang="en-US" dirty="0"/>
              <a:t>Understand how to provide error context to Copilot</a:t>
            </a:r>
          </a:p>
          <a:p>
            <a:pPr lvl="1"/>
            <a:r>
              <a:rPr lang="en-US" dirty="0"/>
              <a:t>Practiced iterative problem-solving approach</a:t>
            </a:r>
            <a:br>
              <a:rPr lang="en-US" dirty="0"/>
            </a:br>
            <a:endParaRPr lang="en-US" dirty="0"/>
          </a:p>
          <a:p>
            <a:pPr marL="0" indent="0">
              <a:buNone/>
            </a:pPr>
            <a:r>
              <a:rPr lang="en-US" b="1" dirty="0"/>
              <a:t>Real-World Scenario</a:t>
            </a:r>
            <a:br>
              <a:rPr lang="en-US" dirty="0"/>
            </a:br>
            <a:endParaRPr lang="en-US" dirty="0"/>
          </a:p>
          <a:p>
            <a:pPr lvl="1"/>
            <a:r>
              <a:rPr lang="en-US" dirty="0"/>
              <a:t>This lab replicates the exact dependency challenges encountered in the training session:</a:t>
            </a:r>
          </a:p>
          <a:p>
            <a:r>
              <a:rPr lang="en-US" dirty="0"/>
              <a:t>- Updating test project to target .NET 8</a:t>
            </a:r>
          </a:p>
          <a:p>
            <a:r>
              <a:rPr lang="en-US" dirty="0"/>
              <a:t>- Resolving NuGet.org package source mapping</a:t>
            </a:r>
          </a:p>
          <a:p>
            <a:r>
              <a:rPr lang="en-US" dirty="0"/>
              <a:t>- </a:t>
            </a:r>
            <a:r>
              <a:rPr lang="en-US" dirty="0" err="1"/>
              <a:t>MSTest</a:t>
            </a:r>
            <a:r>
              <a:rPr lang="en-US" dirty="0"/>
              <a:t> adapter compatibility issues</a:t>
            </a:r>
          </a:p>
          <a:p>
            <a:endParaRPr lang="en-US" dirty="0"/>
          </a:p>
        </p:txBody>
      </p:sp>
    </p:spTree>
    <p:extLst>
      <p:ext uri="{BB962C8B-B14F-4D97-AF65-F5344CB8AC3E}">
        <p14:creationId xmlns:p14="http://schemas.microsoft.com/office/powerpoint/2010/main" val="2430478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A241-5288-5B68-7313-C1234975E270}"/>
              </a:ext>
            </a:extLst>
          </p:cNvPr>
          <p:cNvSpPr>
            <a:spLocks noGrp="1"/>
          </p:cNvSpPr>
          <p:nvPr>
            <p:ph type="title"/>
          </p:nvPr>
        </p:nvSpPr>
        <p:spPr/>
        <p:txBody>
          <a:bodyPr>
            <a:noAutofit/>
          </a:bodyPr>
          <a:lstStyle/>
          <a:p>
            <a:r>
              <a:rPr lang="en-US" sz="2667" dirty="0"/>
              <a:t>Exercise: Best Practices Review &amp; Code Quality</a:t>
            </a:r>
          </a:p>
        </p:txBody>
      </p:sp>
      <p:sp>
        <p:nvSpPr>
          <p:cNvPr id="3" name="Content Placeholder 2">
            <a:extLst>
              <a:ext uri="{FF2B5EF4-FFF2-40B4-BE49-F238E27FC236}">
                <a16:creationId xmlns:a16="http://schemas.microsoft.com/office/drawing/2014/main" id="{8A9E1914-63E1-C502-BC85-BE8A86D0F672}"/>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Code Quality Check:</a:t>
            </a:r>
            <a:br>
              <a:rPr lang="en-US" dirty="0"/>
            </a:br>
            <a:endParaRPr lang="en-US" dirty="0"/>
          </a:p>
          <a:p>
            <a:pPr lvl="1"/>
            <a:r>
              <a:rPr lang="en-US" dirty="0"/>
              <a:t>Prompt: "Suggest improvements for code quality and maintainability"</a:t>
            </a:r>
          </a:p>
          <a:p>
            <a:pPr lvl="1"/>
            <a:r>
              <a:rPr lang="en-US" dirty="0"/>
              <a:t>Evaluate suggestions critically</a:t>
            </a:r>
          </a:p>
          <a:p>
            <a:pPr lvl="1"/>
            <a:r>
              <a:rPr lang="en-US" dirty="0"/>
              <a:t>Implement valuable improvements</a:t>
            </a:r>
            <a:br>
              <a:rPr lang="en-US" dirty="0"/>
            </a:br>
            <a:endParaRPr lang="en-US" dirty="0"/>
          </a:p>
          <a:p>
            <a:pPr marL="0" indent="0">
              <a:buNone/>
            </a:pP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698626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8685-4A25-C580-568F-0B63C5D5901F}"/>
              </a:ext>
            </a:extLst>
          </p:cNvPr>
          <p:cNvSpPr>
            <a:spLocks noGrp="1"/>
          </p:cNvSpPr>
          <p:nvPr>
            <p:ph type="title"/>
          </p:nvPr>
        </p:nvSpPr>
        <p:spPr/>
        <p:txBody>
          <a:bodyPr>
            <a:noAutofit/>
          </a:bodyPr>
          <a:lstStyle/>
          <a:p>
            <a:r>
              <a:rPr lang="en-US" sz="3733" dirty="0"/>
              <a:t>Exercise: Model Comparisons</a:t>
            </a:r>
          </a:p>
        </p:txBody>
      </p:sp>
      <p:sp>
        <p:nvSpPr>
          <p:cNvPr id="3" name="Content Placeholder 2">
            <a:extLst>
              <a:ext uri="{FF2B5EF4-FFF2-40B4-BE49-F238E27FC236}">
                <a16:creationId xmlns:a16="http://schemas.microsoft.com/office/drawing/2014/main" id="{93958479-B067-F342-5A04-053B2822DE4E}"/>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Compare outputs from different AI models</a:t>
            </a:r>
          </a:p>
          <a:p>
            <a:pPr lvl="1"/>
            <a:r>
              <a:rPr lang="en-US" dirty="0"/>
              <a:t>Understand when to use premium vs standard models</a:t>
            </a:r>
          </a:p>
          <a:p>
            <a:pPr lvl="1"/>
            <a:r>
              <a:rPr lang="en-US" dirty="0"/>
              <a:t>Monitor token usage</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Same Prompt, Different Models:</a:t>
            </a:r>
            <a:br>
              <a:rPr lang="en-US" dirty="0"/>
            </a:br>
            <a:endParaRPr lang="en-US" dirty="0"/>
          </a:p>
          <a:p>
            <a:pPr lvl="1"/>
            <a:r>
              <a:rPr lang="en-US" dirty="0"/>
              <a:t>Choose a coding task (e.g., "implement bubble sort")</a:t>
            </a:r>
          </a:p>
          <a:p>
            <a:pPr lvl="1"/>
            <a:r>
              <a:rPr lang="en-US" dirty="0"/>
              <a:t>Try with GPT-4 (standard - unlimited)</a:t>
            </a:r>
          </a:p>
          <a:p>
            <a:pPr lvl="1"/>
            <a:r>
              <a:rPr lang="en-US" dirty="0"/>
              <a:t>Try with Claude Sonnet (premium - 1x token)</a:t>
            </a:r>
          </a:p>
          <a:p>
            <a:pPr lvl="1"/>
            <a:r>
              <a:rPr lang="en-US" dirty="0"/>
              <a:t>Compare results for quality, style, completeness</a:t>
            </a:r>
            <a:br>
              <a:rPr lang="en-US" dirty="0"/>
            </a:br>
            <a:endParaRPr lang="en-US" dirty="0"/>
          </a:p>
          <a:p>
            <a:pPr marL="0" indent="0">
              <a:buNone/>
            </a:pPr>
            <a:r>
              <a:rPr lang="en-US" dirty="0"/>
              <a:t>2. </a:t>
            </a:r>
            <a:r>
              <a:rPr lang="en-US" b="1" dirty="0"/>
              <a:t>Token Usage Analysis:</a:t>
            </a:r>
            <a:br>
              <a:rPr lang="en-US" dirty="0"/>
            </a:br>
            <a:endParaRPr lang="en-US" dirty="0"/>
          </a:p>
          <a:p>
            <a:pPr lvl="1"/>
            <a:r>
              <a:rPr lang="en-US" dirty="0"/>
              <a:t>Check premium token bar before and after</a:t>
            </a:r>
          </a:p>
          <a:p>
            <a:pPr lvl="1"/>
            <a:r>
              <a:rPr lang="en-US" dirty="0"/>
              <a:t>Calculate tokens consumed</a:t>
            </a:r>
          </a:p>
          <a:p>
            <a:pPr lvl="1"/>
            <a:r>
              <a:rPr lang="en-US" dirty="0"/>
              <a:t>Discuss: Was premium model worth the cost?</a:t>
            </a:r>
            <a:br>
              <a:rPr lang="en-US" dirty="0"/>
            </a:br>
            <a:endParaRPr lang="en-US" dirty="0"/>
          </a:p>
          <a:p>
            <a:pPr marL="0" indent="0">
              <a:buNone/>
            </a:pPr>
            <a:r>
              <a:rPr lang="en-US" dirty="0"/>
              <a:t>3. </a:t>
            </a:r>
            <a:r>
              <a:rPr lang="en-US" b="1" dirty="0"/>
              <a:t>Best Use Cases:</a:t>
            </a:r>
            <a:br>
              <a:rPr lang="en-US" dirty="0"/>
            </a:br>
            <a:endParaRPr lang="en-US" dirty="0"/>
          </a:p>
          <a:p>
            <a:pPr lvl="1"/>
            <a:r>
              <a:rPr lang="en-US" dirty="0"/>
              <a:t>Identify tasks where standard models suffice</a:t>
            </a:r>
          </a:p>
          <a:p>
            <a:pPr lvl="1"/>
            <a:r>
              <a:rPr lang="en-US" dirty="0"/>
              <a:t>Identify tasks requiring premium models</a:t>
            </a:r>
          </a:p>
          <a:p>
            <a:pPr lvl="1"/>
            <a:r>
              <a:rPr lang="en-US" dirty="0"/>
              <a:t>Create personal guidelines for model selection</a:t>
            </a:r>
            <a:br>
              <a:rPr lang="en-US" dirty="0"/>
            </a:br>
            <a:endParaRPr lang="en-US" dirty="0"/>
          </a:p>
          <a:p>
            <a:pPr marL="0" indent="0">
              <a:buNone/>
            </a:pPr>
            <a:r>
              <a:rPr lang="en-US" dirty="0"/>
              <a:t>4. </a:t>
            </a:r>
            <a:r>
              <a:rPr lang="en-US" b="1" dirty="0"/>
              <a:t>Ask Mode Advantage:</a:t>
            </a:r>
            <a:endParaRPr lang="en-US" dirty="0"/>
          </a:p>
          <a:p>
            <a:pPr lvl="1"/>
            <a:r>
              <a:rPr lang="en-US" dirty="0"/>
              <a:t>Use Ask mode with premium models (no token cost)</a:t>
            </a:r>
          </a:p>
          <a:p>
            <a:pPr lvl="1"/>
            <a:r>
              <a:rPr lang="en-US" dirty="0"/>
              <a:t>Compare to Agent mode token consumption</a:t>
            </a:r>
            <a:br>
              <a:rPr lang="en-US" dirty="0"/>
            </a:br>
            <a:endParaRPr lang="en-US" dirty="0"/>
          </a:p>
          <a:p>
            <a:pPr marL="0" indent="0">
              <a:buNone/>
            </a:pPr>
            <a:r>
              <a:rPr lang="en-US" b="1" dirty="0"/>
              <a:t>Success Criteria</a:t>
            </a:r>
            <a:br>
              <a:rPr lang="en-US" dirty="0"/>
            </a:br>
            <a:endParaRPr lang="en-US" dirty="0"/>
          </a:p>
          <a:p>
            <a:pPr lvl="1"/>
            <a:r>
              <a:rPr lang="en-US" dirty="0"/>
              <a:t>Compared at least 2 different models</a:t>
            </a:r>
          </a:p>
          <a:p>
            <a:pPr lvl="1"/>
            <a:r>
              <a:rPr lang="en-US" dirty="0"/>
              <a:t>Understand token consumption impact</a:t>
            </a:r>
          </a:p>
          <a:p>
            <a:pPr lvl="1"/>
            <a:r>
              <a:rPr lang="en-US" dirty="0"/>
              <a:t>Can make informed model selection decisions</a:t>
            </a:r>
            <a:br>
              <a:rPr lang="en-US" dirty="0"/>
            </a:br>
            <a:endParaRPr lang="en-US" dirty="0"/>
          </a:p>
          <a:p>
            <a:pPr marL="0" indent="0">
              <a:buNone/>
            </a:pPr>
            <a:r>
              <a:rPr lang="en-US" b="1" dirty="0"/>
              <a:t>Token Economics</a:t>
            </a:r>
            <a:br>
              <a:rPr lang="en-US" dirty="0"/>
            </a:br>
            <a:endParaRPr lang="en-US" dirty="0"/>
          </a:p>
          <a:p>
            <a:pPr lvl="1"/>
            <a:r>
              <a:rPr lang="en-US" b="1" dirty="0"/>
              <a:t>Standard models (unlimited):</a:t>
            </a:r>
            <a:r>
              <a:rPr lang="en-US" dirty="0"/>
              <a:t> ChatGPT-4</a:t>
            </a:r>
          </a:p>
          <a:p>
            <a:pPr lvl="1"/>
            <a:r>
              <a:rPr lang="en-US" b="1" dirty="0"/>
              <a:t>Premium tokens (counted):</a:t>
            </a:r>
            <a:endParaRPr lang="en-US" dirty="0"/>
          </a:p>
          <a:p>
            <a:pPr lvl="1"/>
            <a:r>
              <a:rPr lang="en-US" dirty="0"/>
              <a:t>Claude Haiku 4.5: 1/3 token per request</a:t>
            </a:r>
          </a:p>
          <a:p>
            <a:pPr lvl="1"/>
            <a:r>
              <a:rPr lang="en-US" dirty="0"/>
              <a:t>Claude Sonnet: 1x token per request</a:t>
            </a:r>
          </a:p>
          <a:p>
            <a:pPr lvl="1"/>
            <a:r>
              <a:rPr lang="en-US" dirty="0"/>
              <a:t>O2 mini: 1/3 token per request</a:t>
            </a:r>
          </a:p>
          <a:p>
            <a:pPr lvl="1"/>
            <a:r>
              <a:rPr lang="en-US" dirty="0"/>
              <a:t>New models: May be 10x when first released</a:t>
            </a:r>
          </a:p>
          <a:p>
            <a:endParaRPr lang="en-US" dirty="0"/>
          </a:p>
        </p:txBody>
      </p:sp>
    </p:spTree>
    <p:extLst>
      <p:ext uri="{BB962C8B-B14F-4D97-AF65-F5344CB8AC3E}">
        <p14:creationId xmlns:p14="http://schemas.microsoft.com/office/powerpoint/2010/main" val="10340040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45DD-10DF-79A3-5833-E34B6161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872C-A8B4-2F9C-AF68-DAA69F36786B}"/>
              </a:ext>
            </a:extLst>
          </p:cNvPr>
          <p:cNvSpPr>
            <a:spLocks noGrp="1"/>
          </p:cNvSpPr>
          <p:nvPr>
            <p:ph type="title"/>
          </p:nvPr>
        </p:nvSpPr>
        <p:spPr/>
        <p:txBody>
          <a:bodyPr>
            <a:noAutofit/>
          </a:bodyPr>
          <a:lstStyle/>
          <a:p>
            <a:r>
              <a:rPr lang="en-US" sz="2400" dirty="0"/>
              <a:t>Exercise: Calculator Project – Encapsulate Core Logic</a:t>
            </a:r>
          </a:p>
        </p:txBody>
      </p:sp>
      <p:sp>
        <p:nvSpPr>
          <p:cNvPr id="3" name="Content Placeholder 2">
            <a:extLst>
              <a:ext uri="{FF2B5EF4-FFF2-40B4-BE49-F238E27FC236}">
                <a16:creationId xmlns:a16="http://schemas.microsoft.com/office/drawing/2014/main" id="{6BBCAF68-9ACA-D6B2-0E27-ED293713CA13}"/>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r>
              <a:rPr lang="en-US" dirty="0"/>
              <a:t>Separate UI concerns from computational logic</a:t>
            </a:r>
          </a:p>
          <a:p>
            <a:r>
              <a:rPr lang="en-US" dirty="0"/>
              <a:t>Use AI to scaffold a standalone “core logic” module/class</a:t>
            </a:r>
          </a:p>
          <a:p>
            <a:r>
              <a:rPr lang="en-US" dirty="0"/>
              <a:t>Ensure the UI communicates with the logic layer through a clean, well‑defined API</a:t>
            </a:r>
          </a:p>
          <a:p>
            <a:r>
              <a:rPr lang="en-US" dirty="0"/>
              <a:t>Validate that encapsulation improves testability and maintainability</a:t>
            </a:r>
          </a:p>
          <a:p>
            <a:pPr marL="0" indent="0">
              <a:buNone/>
            </a:pPr>
            <a:br>
              <a:rPr lang="en-US" dirty="0"/>
            </a:br>
            <a:r>
              <a:rPr lang="en-US" b="1" dirty="0"/>
              <a:t>Activities</a:t>
            </a:r>
            <a:br>
              <a:rPr lang="en-US" dirty="0"/>
            </a:br>
            <a:endParaRPr lang="en-US" dirty="0"/>
          </a:p>
          <a:p>
            <a:pPr marL="0" indent="0">
              <a:buNone/>
            </a:pPr>
            <a:r>
              <a:rPr lang="en-US" dirty="0"/>
              <a:t>1. - Ask AI to generate a dedicated component (e.g., </a:t>
            </a:r>
            <a:r>
              <a:rPr lang="en-US" dirty="0" err="1"/>
              <a:t>CalculatorEngine</a:t>
            </a:r>
            <a:r>
              <a:rPr lang="en-US" dirty="0"/>
              <a:t>, </a:t>
            </a:r>
            <a:r>
              <a:rPr lang="en-US" dirty="0" err="1"/>
              <a:t>CalculatorCore</a:t>
            </a:r>
            <a:r>
              <a:rPr lang="en-US" dirty="0"/>
              <a:t>) containing:</a:t>
            </a:r>
          </a:p>
          <a:p>
            <a:pPr lvl="1"/>
            <a:r>
              <a:rPr lang="en-US" dirty="0"/>
              <a:t>Arithmetic operations</a:t>
            </a:r>
          </a:p>
          <a:p>
            <a:pPr lvl="1"/>
            <a:r>
              <a:rPr lang="en-US" dirty="0"/>
              <a:t>State management</a:t>
            </a:r>
          </a:p>
          <a:p>
            <a:pPr lvl="1"/>
            <a:r>
              <a:rPr lang="en-US" dirty="0"/>
              <a:t>Trig/percentage/memory logic (if implemented)</a:t>
            </a:r>
          </a:p>
          <a:p>
            <a:pPr marL="0" indent="0">
              <a:buNone/>
            </a:pPr>
            <a:r>
              <a:rPr lang="en-US" dirty="0"/>
              <a:t>2. Review the AI‑generated API surface and refine naming, inputs, and return types</a:t>
            </a:r>
          </a:p>
          <a:p>
            <a:pPr marL="0" indent="0">
              <a:buNone/>
            </a:pPr>
            <a:r>
              <a:rPr lang="en-US" dirty="0"/>
              <a:t>3. Replace UI‑embedded logic with calls into the new component</a:t>
            </a:r>
          </a:p>
          <a:p>
            <a:pPr marL="457189" lvl="1" indent="0">
              <a:buNone/>
            </a:pPr>
            <a:endParaRPr lang="en-US" dirty="0"/>
          </a:p>
          <a:p>
            <a:pPr marL="0" indent="0">
              <a:buNone/>
            </a:pPr>
            <a:r>
              <a:rPr lang="en-US" b="1" dirty="0"/>
              <a:t>Success Criteria</a:t>
            </a:r>
            <a:endParaRPr lang="en-US" dirty="0"/>
          </a:p>
          <a:p>
            <a:pPr lvl="1"/>
            <a:r>
              <a:rPr lang="en-US" dirty="0"/>
              <a:t>All calculator features run through the external logic component</a:t>
            </a:r>
          </a:p>
          <a:p>
            <a:pPr lvl="1"/>
            <a:r>
              <a:rPr lang="en-US" dirty="0"/>
              <a:t>UI contains no computational logic — only event handling and display updates</a:t>
            </a:r>
          </a:p>
          <a:p>
            <a:pPr lvl="1"/>
            <a:r>
              <a:rPr lang="en-US" dirty="0"/>
              <a:t>Learner can explain how encapsulation improves modularity, reuse, and AI‑assisted development workflow</a:t>
            </a:r>
          </a:p>
          <a:p>
            <a:pPr marL="0" indent="0">
              <a:buNone/>
            </a:pPr>
            <a:endParaRPr lang="en-US" dirty="0"/>
          </a:p>
        </p:txBody>
      </p:sp>
    </p:spTree>
    <p:extLst>
      <p:ext uri="{BB962C8B-B14F-4D97-AF65-F5344CB8AC3E}">
        <p14:creationId xmlns:p14="http://schemas.microsoft.com/office/powerpoint/2010/main" val="3739588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CBA-11EE-C725-BBC3-C970DCAF0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E4869-93F4-2A2D-EC8C-393536C00AC3}"/>
              </a:ext>
            </a:extLst>
          </p:cNvPr>
          <p:cNvSpPr>
            <a:spLocks noGrp="1"/>
          </p:cNvSpPr>
          <p:nvPr>
            <p:ph type="title"/>
          </p:nvPr>
        </p:nvSpPr>
        <p:spPr/>
        <p:txBody>
          <a:bodyPr>
            <a:noAutofit/>
          </a:bodyPr>
          <a:lstStyle/>
          <a:p>
            <a:r>
              <a:rPr lang="en-US" sz="2667" dirty="0"/>
              <a:t>Exercise: Security Review</a:t>
            </a:r>
          </a:p>
        </p:txBody>
      </p:sp>
      <p:sp>
        <p:nvSpPr>
          <p:cNvPr id="3" name="Content Placeholder 2">
            <a:extLst>
              <a:ext uri="{FF2B5EF4-FFF2-40B4-BE49-F238E27FC236}">
                <a16:creationId xmlns:a16="http://schemas.microsoft.com/office/drawing/2014/main" id="{29D8D22B-0901-C5F2-0D5C-4639C7475C66}"/>
              </a:ext>
            </a:extLst>
          </p:cNvPr>
          <p:cNvSpPr>
            <a:spLocks noGrp="1"/>
          </p:cNvSpPr>
          <p:nvPr>
            <p:ph idx="1"/>
          </p:nvPr>
        </p:nvSpPr>
        <p:spPr/>
        <p:txBody>
          <a:bodyPr numCol="2">
            <a:normAutofit fontScale="92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Security Review:</a:t>
            </a:r>
            <a:br>
              <a:rPr lang="en-US" dirty="0"/>
            </a:br>
            <a:endParaRPr lang="en-US" dirty="0"/>
          </a:p>
          <a:p>
            <a:pPr lvl="1"/>
            <a:r>
              <a:rPr lang="en-US" dirty="0"/>
              <a:t>Prompt: "Review this code for security vulnerabilities"</a:t>
            </a:r>
          </a:p>
          <a:p>
            <a:pPr lvl="1"/>
            <a:r>
              <a:rPr lang="en-US" dirty="0"/>
              <a:t>Address any identified issues</a:t>
            </a:r>
          </a:p>
          <a:p>
            <a:pPr lvl="1"/>
            <a:r>
              <a:rPr lang="en-US" dirty="0"/>
              <a:t>Add input validation where missing</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Critically evaluated all AI suggestions</a:t>
            </a:r>
            <a:br>
              <a:rPr lang="en-US" dirty="0"/>
            </a:br>
            <a:endParaRPr lang="en-US" dirty="0"/>
          </a:p>
          <a:p>
            <a:pPr marL="0" indent="0">
              <a:buNone/>
            </a:pPr>
            <a:br>
              <a:rPr lang="en-US"/>
            </a:br>
            <a:endParaRPr lang="en-US" dirty="0"/>
          </a:p>
        </p:txBody>
      </p:sp>
    </p:spTree>
    <p:extLst>
      <p:ext uri="{BB962C8B-B14F-4D97-AF65-F5344CB8AC3E}">
        <p14:creationId xmlns:p14="http://schemas.microsoft.com/office/powerpoint/2010/main" val="41993769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799D-3CF4-C6DF-B4E2-5D3CFD5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C7433-521A-CF3D-7147-964A8DF9CE8D}"/>
              </a:ext>
            </a:extLst>
          </p:cNvPr>
          <p:cNvSpPr>
            <a:spLocks noGrp="1"/>
          </p:cNvSpPr>
          <p:nvPr>
            <p:ph type="title"/>
          </p:nvPr>
        </p:nvSpPr>
        <p:spPr/>
        <p:txBody>
          <a:bodyPr>
            <a:noAutofit/>
          </a:bodyPr>
          <a:lstStyle/>
          <a:p>
            <a:r>
              <a:rPr lang="en-US" sz="2667" dirty="0"/>
              <a:t>Exercise: Documentation</a:t>
            </a:r>
          </a:p>
        </p:txBody>
      </p:sp>
      <p:sp>
        <p:nvSpPr>
          <p:cNvPr id="3" name="Content Placeholder 2">
            <a:extLst>
              <a:ext uri="{FF2B5EF4-FFF2-40B4-BE49-F238E27FC236}">
                <a16:creationId xmlns:a16="http://schemas.microsoft.com/office/drawing/2014/main" id="{02CA00A4-5CFB-8DD1-7A12-A53FCC257E72}"/>
              </a:ext>
            </a:extLst>
          </p:cNvPr>
          <p:cNvSpPr>
            <a:spLocks noGrp="1"/>
          </p:cNvSpPr>
          <p:nvPr>
            <p:ph idx="1"/>
          </p:nvPr>
        </p:nvSpPr>
        <p:spPr/>
        <p:txBody>
          <a:bodyPr numCol="2">
            <a:normAutofit fontScale="85000" lnSpcReduction="1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Add documentation to a project</a:t>
            </a:r>
          </a:p>
          <a:p>
            <a:pPr lvl="1"/>
            <a:r>
              <a:rPr lang="en-US" dirty="0"/>
              <a:t>Update existing documentation</a:t>
            </a:r>
            <a:br>
              <a:rPr lang="en-US" dirty="0"/>
            </a:br>
            <a:endParaRPr lang="en-US" b="1" dirty="0"/>
          </a:p>
          <a:p>
            <a:pPr marL="0" indent="0">
              <a:buNone/>
            </a:pPr>
            <a:r>
              <a:rPr lang="en-US" b="1" dirty="0"/>
              <a:t>Activities</a:t>
            </a:r>
            <a:br>
              <a:rPr lang="en-US" dirty="0"/>
            </a:br>
            <a:endParaRPr lang="en-US" dirty="0"/>
          </a:p>
          <a:p>
            <a:pPr marL="0" indent="0">
              <a:buNone/>
            </a:pPr>
            <a:r>
              <a:rPr lang="en-US" dirty="0"/>
              <a:t>1. </a:t>
            </a:r>
            <a:r>
              <a:rPr lang="en-US" b="1" dirty="0"/>
              <a:t>Documentation:</a:t>
            </a:r>
            <a:br>
              <a:rPr lang="en-US" dirty="0"/>
            </a:br>
            <a:endParaRPr lang="en-US" dirty="0"/>
          </a:p>
          <a:p>
            <a:pPr lvl="1"/>
            <a:r>
              <a:rPr lang="en-US" dirty="0"/>
              <a:t>Ask Copilot to generate XML/doc comments</a:t>
            </a:r>
          </a:p>
          <a:p>
            <a:pPr lvl="1"/>
            <a:r>
              <a:rPr lang="en-US" dirty="0"/>
              <a:t>Review for accuracy and completeness</a:t>
            </a:r>
          </a:p>
          <a:p>
            <a:pPr lvl="1"/>
            <a:r>
              <a:rPr lang="en-US" dirty="0"/>
              <a:t>Add README with usage instruction</a:t>
            </a:r>
          </a:p>
          <a:p>
            <a:pPr lvl="1"/>
            <a:r>
              <a:rPr lang="en-US" dirty="0"/>
              <a:t>Ask AI to update existing documentation</a:t>
            </a: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817903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1A18-3B58-E0A3-DF73-2751E4EF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8E203-04DE-BB8E-42B2-DF48D0FD9A86}"/>
              </a:ext>
            </a:extLst>
          </p:cNvPr>
          <p:cNvSpPr>
            <a:spLocks noGrp="1"/>
          </p:cNvSpPr>
          <p:nvPr>
            <p:ph type="title"/>
          </p:nvPr>
        </p:nvSpPr>
        <p:spPr/>
        <p:txBody>
          <a:bodyPr>
            <a:noAutofit/>
          </a:bodyPr>
          <a:lstStyle/>
          <a:p>
            <a:r>
              <a:rPr lang="en-US" sz="2667" dirty="0"/>
              <a:t>Exercise: Refactoring</a:t>
            </a:r>
          </a:p>
        </p:txBody>
      </p:sp>
      <p:sp>
        <p:nvSpPr>
          <p:cNvPr id="3" name="Content Placeholder 2">
            <a:extLst>
              <a:ext uri="{FF2B5EF4-FFF2-40B4-BE49-F238E27FC236}">
                <a16:creationId xmlns:a16="http://schemas.microsoft.com/office/drawing/2014/main" id="{819C4D3F-0057-761C-E6C7-270AFD9749C3}"/>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Refactoring Exercise:</a:t>
            </a:r>
            <a:endParaRPr lang="en-US" dirty="0"/>
          </a:p>
          <a:p>
            <a:pPr lvl="1"/>
            <a:r>
              <a:rPr lang="en-US" dirty="0"/>
              <a:t>Ask Copilot for alternative implementation approaches</a:t>
            </a:r>
          </a:p>
          <a:p>
            <a:pPr lvl="1"/>
            <a:r>
              <a:rPr lang="en-US" dirty="0"/>
              <a:t>Compare different solutions</a:t>
            </a:r>
          </a:p>
          <a:p>
            <a:pPr lvl="1"/>
            <a:r>
              <a:rPr lang="en-US" dirty="0"/>
              <a:t>Discuss trade-offs (as mentioned in session)</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Comprehensive documentation added</a:t>
            </a:r>
          </a:p>
          <a:p>
            <a:pPr lvl="1"/>
            <a:r>
              <a:rPr lang="en-US" dirty="0"/>
              <a:t>At least one refactoring improvement implemented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3500666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89E8-366B-DE4A-3987-2B1ABE59AB86}"/>
              </a:ext>
            </a:extLst>
          </p:cNvPr>
          <p:cNvSpPr>
            <a:spLocks noGrp="1"/>
          </p:cNvSpPr>
          <p:nvPr>
            <p:ph type="title"/>
          </p:nvPr>
        </p:nvSpPr>
        <p:spPr/>
        <p:txBody>
          <a:bodyPr>
            <a:normAutofit/>
          </a:bodyPr>
          <a:lstStyle/>
          <a:p>
            <a:r>
              <a:rPr lang="en-US" sz="2933" dirty="0"/>
              <a:t>Evergreen Software Development - Core Principles</a:t>
            </a:r>
            <a:br>
              <a:rPr lang="en-US" dirty="0"/>
            </a:br>
            <a:endParaRPr lang="en-US" dirty="0"/>
          </a:p>
        </p:txBody>
      </p:sp>
      <p:sp>
        <p:nvSpPr>
          <p:cNvPr id="3" name="Content Placeholder 2">
            <a:extLst>
              <a:ext uri="{FF2B5EF4-FFF2-40B4-BE49-F238E27FC236}">
                <a16:creationId xmlns:a16="http://schemas.microsoft.com/office/drawing/2014/main" id="{837EB2FB-58EC-B015-73A1-71A8AF4AAF5D}"/>
              </a:ext>
            </a:extLst>
          </p:cNvPr>
          <p:cNvSpPr>
            <a:spLocks noGrp="1"/>
          </p:cNvSpPr>
          <p:nvPr>
            <p:ph idx="1"/>
          </p:nvPr>
        </p:nvSpPr>
        <p:spPr/>
        <p:txBody>
          <a:bodyPr>
            <a:normAutofit fontScale="85000" lnSpcReduction="20000"/>
          </a:bodyPr>
          <a:lstStyle/>
          <a:p>
            <a:r>
              <a:rPr lang="en-US" b="1" dirty="0"/>
              <a:t>Intent‑First Design</a:t>
            </a:r>
          </a:p>
          <a:p>
            <a:pPr lvl="1"/>
            <a:r>
              <a:rPr lang="en-US" dirty="0"/>
              <a:t>Define the system’s purpose, invariants, and boundaries before writing code to ensure long‑term clarity.</a:t>
            </a:r>
          </a:p>
          <a:p>
            <a:r>
              <a:rPr lang="en-US" b="1" dirty="0"/>
              <a:t>Stable Interfaces, Evolving Internals</a:t>
            </a:r>
          </a:p>
          <a:p>
            <a:pPr lvl="1"/>
            <a:r>
              <a:rPr lang="en-US" dirty="0"/>
              <a:t>Keep contracts predictable while allowing implementations to improve continuously.</a:t>
            </a:r>
          </a:p>
          <a:p>
            <a:r>
              <a:rPr lang="en-US" b="1" dirty="0"/>
              <a:t>Continuous Regeneration with Guardrails</a:t>
            </a:r>
          </a:p>
          <a:p>
            <a:pPr lvl="1"/>
            <a:r>
              <a:rPr lang="en-US" dirty="0"/>
              <a:t>Use AI to rewrite or extend components safely, backed by tests, specs, and architectural constraints.</a:t>
            </a:r>
          </a:p>
          <a:p>
            <a:r>
              <a:rPr lang="en-US" b="1" dirty="0"/>
              <a:t>Modular, Replaceable Components</a:t>
            </a:r>
          </a:p>
          <a:p>
            <a:pPr lvl="1"/>
            <a:r>
              <a:rPr lang="en-US" dirty="0"/>
              <a:t>Structure the system so any part can be regenerated, swapped, or upgraded without cascading breakage.</a:t>
            </a:r>
          </a:p>
          <a:p>
            <a:r>
              <a:rPr lang="en-US" b="1" dirty="0"/>
              <a:t>Lifecycle Governance</a:t>
            </a:r>
          </a:p>
          <a:p>
            <a:pPr lvl="1"/>
            <a:r>
              <a:rPr lang="en-US" dirty="0"/>
              <a:t>Maintain quality through automated tests, versioning discipline, and human‑in‑the‑loop validation.</a:t>
            </a:r>
          </a:p>
          <a:p>
            <a:endParaRPr lang="en-US" dirty="0"/>
          </a:p>
        </p:txBody>
      </p:sp>
    </p:spTree>
    <p:extLst>
      <p:ext uri="{BB962C8B-B14F-4D97-AF65-F5344CB8AC3E}">
        <p14:creationId xmlns:p14="http://schemas.microsoft.com/office/powerpoint/2010/main" val="3859943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200" dirty="0"/>
              <a:t>Software Engineering vs “Vibe Coding”</a:t>
            </a:r>
          </a:p>
        </p:txBody>
      </p:sp>
      <p:sp>
        <p:nvSpPr>
          <p:cNvPr id="3" name="Content Placeholder 2"/>
          <p:cNvSpPr>
            <a:spLocks noGrp="1"/>
          </p:cNvSpPr>
          <p:nvPr>
            <p:ph idx="1"/>
          </p:nvPr>
        </p:nvSpPr>
        <p:spPr/>
        <p:txBody>
          <a:bodyPr/>
          <a:lstStyle/>
          <a:p>
            <a:pPr lvl="0"/>
            <a:r>
              <a:rPr dirty="0"/>
              <a:t>Engineering approach: systematic, tested, documented, maintainable</a:t>
            </a:r>
          </a:p>
          <a:p>
            <a:pPr lvl="0"/>
            <a:r>
              <a:rPr dirty="0"/>
              <a:t>Vibe coding: “it works” mentality, technical debt accumulation</a:t>
            </a:r>
          </a:p>
          <a:p>
            <a:pPr lvl="0"/>
            <a:r>
              <a:rPr dirty="0"/>
              <a:t>AI should enhance engineering practices, not replace them</a:t>
            </a:r>
          </a:p>
          <a:p>
            <a:pPr lvl="0"/>
            <a:r>
              <a:rPr dirty="0"/>
              <a:t>Proper testing, code review, and architecture still essential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52D-1CB5-EA4A-363F-6C6F7BFCF89E}"/>
              </a:ext>
            </a:extLst>
          </p:cNvPr>
          <p:cNvSpPr>
            <a:spLocks noGrp="1"/>
          </p:cNvSpPr>
          <p:nvPr>
            <p:ph type="title"/>
          </p:nvPr>
        </p:nvSpPr>
        <p:spPr/>
        <p:txBody>
          <a:bodyPr>
            <a:noAutofit/>
          </a:bodyPr>
          <a:lstStyle/>
          <a:p>
            <a:r>
              <a:rPr lang="en-US" sz="3733" dirty="0"/>
              <a:t>Why Software Fails to Be Evergreen</a:t>
            </a:r>
          </a:p>
        </p:txBody>
      </p:sp>
      <p:sp>
        <p:nvSpPr>
          <p:cNvPr id="3" name="Content Placeholder 2">
            <a:extLst>
              <a:ext uri="{FF2B5EF4-FFF2-40B4-BE49-F238E27FC236}">
                <a16:creationId xmlns:a16="http://schemas.microsoft.com/office/drawing/2014/main" id="{37E908B3-2D49-4D0A-4B73-17410FD8D84B}"/>
              </a:ext>
            </a:extLst>
          </p:cNvPr>
          <p:cNvSpPr>
            <a:spLocks noGrp="1"/>
          </p:cNvSpPr>
          <p:nvPr>
            <p:ph idx="1"/>
          </p:nvPr>
        </p:nvSpPr>
        <p:spPr/>
        <p:txBody>
          <a:bodyPr>
            <a:normAutofit fontScale="85000" lnSpcReduction="20000"/>
          </a:bodyPr>
          <a:lstStyle/>
          <a:p>
            <a:r>
              <a:rPr lang="en-US" b="1" dirty="0"/>
              <a:t>Intent Rot</a:t>
            </a:r>
          </a:p>
          <a:p>
            <a:pPr lvl="1"/>
            <a:r>
              <a:rPr lang="en-US" dirty="0"/>
              <a:t>The original purpose, constraints, and invariants are undocumented or lost, making safe regeneration impossible.</a:t>
            </a:r>
          </a:p>
          <a:p>
            <a:r>
              <a:rPr lang="en-US" b="1" dirty="0"/>
              <a:t>Unstable or Leaky Interfaces</a:t>
            </a:r>
          </a:p>
          <a:p>
            <a:pPr lvl="1"/>
            <a:r>
              <a:rPr lang="en-US" dirty="0"/>
              <a:t>APIs, data contracts, and boundaries change unpredictably, causing cascading breakage when internals evolve.</a:t>
            </a:r>
          </a:p>
          <a:p>
            <a:r>
              <a:rPr lang="en-US" b="1" dirty="0"/>
              <a:t>Tightly Coupled Architecture</a:t>
            </a:r>
          </a:p>
          <a:p>
            <a:pPr lvl="1"/>
            <a:r>
              <a:rPr lang="en-US" dirty="0"/>
              <a:t>Components depend on each other’s internal details, preventing isolated regeneration or replacement.</a:t>
            </a:r>
          </a:p>
          <a:p>
            <a:r>
              <a:rPr lang="en-US" b="1" dirty="0"/>
              <a:t>Insufficient Guardrails</a:t>
            </a:r>
          </a:p>
          <a:p>
            <a:pPr lvl="1"/>
            <a:r>
              <a:rPr lang="en-US" dirty="0"/>
              <a:t>Missing tests, specs, or validation layers mean AI‑assisted regeneration can’t be trusted to preserve behavior.</a:t>
            </a:r>
          </a:p>
          <a:p>
            <a:r>
              <a:rPr lang="en-US" b="1" dirty="0"/>
              <a:t>One‑Off Patches and Drift</a:t>
            </a:r>
          </a:p>
          <a:p>
            <a:pPr lvl="1"/>
            <a:r>
              <a:rPr lang="en-US" dirty="0"/>
              <a:t>Ad‑hoc fixes accumulate, diverging the system from its intended design and making regeneration unsafe.</a:t>
            </a:r>
          </a:p>
        </p:txBody>
      </p:sp>
    </p:spTree>
    <p:extLst>
      <p:ext uri="{BB962C8B-B14F-4D97-AF65-F5344CB8AC3E}">
        <p14:creationId xmlns:p14="http://schemas.microsoft.com/office/powerpoint/2010/main" val="4274026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6540</TotalTime>
  <Words>2801</Words>
  <Application>Microsoft Office PowerPoint</Application>
  <PresentationFormat>Widescreen</PresentationFormat>
  <Paragraphs>417</Paragraphs>
  <Slides>22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Aptos Display</vt:lpstr>
      <vt:lpstr>Arial</vt:lpstr>
      <vt:lpstr>Office Theme</vt:lpstr>
      <vt:lpstr>Collaborating on a Solution</vt:lpstr>
      <vt:lpstr>Exercise: Calculator Project - Setup &amp; Basic Implementation</vt:lpstr>
      <vt:lpstr>Exercise: Calculator Project – Clear / Reset </vt:lpstr>
      <vt:lpstr>Exercise: Calculator Project – Decimal Input</vt:lpstr>
      <vt:lpstr>Exercise: Calculator Project – Sign Toggle (+/–) </vt:lpstr>
      <vt:lpstr>Exercise: Calculator Project – Percentage </vt:lpstr>
      <vt:lpstr>Exercise: Calculator Project – Memory Functions (M+, M–, MR, MC) </vt:lpstr>
      <vt:lpstr>Exercise: Calculator Project – Error Handling</vt:lpstr>
      <vt:lpstr>Exercise: Calculator Project – Add Trigonometric Functions </vt:lpstr>
      <vt:lpstr>Exercise: Calculator Project – UI </vt:lpstr>
      <vt:lpstr>Exercise: Calculator Project - Testing</vt:lpstr>
      <vt:lpstr>Exercise: Code Coverage</vt:lpstr>
      <vt:lpstr>Exercise: Dependency Management &amp; Troubleshooting</vt:lpstr>
      <vt:lpstr>Exercise: Best Practices Review &amp; Code Quality</vt:lpstr>
      <vt:lpstr>Exercise: Model Comparisons</vt:lpstr>
      <vt:lpstr>Exercise: Calculator Project – Encapsulate Core Logic</vt:lpstr>
      <vt:lpstr>Exercise: Security Review</vt:lpstr>
      <vt:lpstr>Exercise: Documentation</vt:lpstr>
      <vt:lpstr>Exercise: Refactoring</vt:lpstr>
      <vt:lpstr>Evergreen Software Development - Core Principles </vt:lpstr>
      <vt:lpstr>Software Engineering vs “Vibe Coding”</vt:lpstr>
      <vt:lpstr>Why Software Fails to Be Evergreen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2</cp:revision>
  <dcterms:created xsi:type="dcterms:W3CDTF">2026-03-05T23:15:06Z</dcterms:created>
  <dcterms:modified xsi:type="dcterms:W3CDTF">2026-03-10T16:01:58Z</dcterms:modified>
</cp:coreProperties>
</file>